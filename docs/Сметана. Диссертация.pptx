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2"/>
  </p:notesMasterIdLst>
  <p:handoutMasterIdLst>
    <p:handoutMasterId r:id="rId23"/>
  </p:handoutMasterIdLst>
  <p:sldIdLst>
    <p:sldId id="465" r:id="rId3"/>
    <p:sldId id="566" r:id="rId4"/>
    <p:sldId id="559" r:id="rId5"/>
    <p:sldId id="560" r:id="rId6"/>
    <p:sldId id="565" r:id="rId7"/>
    <p:sldId id="561" r:id="rId8"/>
    <p:sldId id="562" r:id="rId9"/>
    <p:sldId id="568" r:id="rId10"/>
    <p:sldId id="567" r:id="rId11"/>
    <p:sldId id="570" r:id="rId12"/>
    <p:sldId id="571" r:id="rId13"/>
    <p:sldId id="574" r:id="rId14"/>
    <p:sldId id="573" r:id="rId15"/>
    <p:sldId id="569" r:id="rId16"/>
    <p:sldId id="572" r:id="rId17"/>
    <p:sldId id="558" r:id="rId18"/>
    <p:sldId id="564" r:id="rId19"/>
    <p:sldId id="563" r:id="rId20"/>
    <p:sldId id="470" r:id="rId21"/>
  </p:sldIdLst>
  <p:sldSz cx="9144000" cy="6858000" type="screen4x3"/>
  <p:notesSz cx="6735763" cy="98663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DEFF"/>
    <a:srgbClr val="96AB94"/>
    <a:srgbClr val="FF9933"/>
    <a:srgbClr val="008080"/>
    <a:srgbClr val="339933"/>
    <a:srgbClr val="9C9C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992" autoAdjust="0"/>
    <p:restoredTop sz="92806" autoAdjust="0"/>
  </p:normalViewPr>
  <p:slideViewPr>
    <p:cSldViewPr snapToGrid="0">
      <p:cViewPr varScale="1">
        <p:scale>
          <a:sx n="104" d="100"/>
          <a:sy n="104" d="100"/>
        </p:scale>
        <p:origin x="142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14754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r">
              <a:defRPr sz="1200"/>
            </a:lvl1pPr>
          </a:lstStyle>
          <a:p>
            <a:fld id="{82AF5981-886A-4F9A-B32B-CA52763BD825}" type="datetimeFigureOut">
              <a:rPr lang="ru-RU" smtClean="0"/>
              <a:pPr/>
              <a:t>15.06.2026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2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14754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r">
              <a:defRPr sz="1200"/>
            </a:lvl1pPr>
          </a:lstStyle>
          <a:p>
            <a:fld id="{588AE88D-C0A5-4D31-BE30-C511186F55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121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15373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r">
              <a:defRPr sz="1300"/>
            </a:lvl1pPr>
          </a:lstStyle>
          <a:p>
            <a:fld id="{77D36C68-DDAB-4D09-8E72-8E937BD7768C}" type="datetimeFigureOut">
              <a:rPr lang="ru-RU" smtClean="0"/>
              <a:pPr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739775"/>
            <a:ext cx="4935537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63" tIns="47431" rIns="94863" bIns="47431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3577" y="4686501"/>
            <a:ext cx="5388610" cy="4439841"/>
          </a:xfrm>
          <a:prstGeom prst="rect">
            <a:avLst/>
          </a:prstGeom>
        </p:spPr>
        <p:txBody>
          <a:bodyPr vert="horz" lIns="94863" tIns="47431" rIns="94863" bIns="47431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r">
              <a:defRPr sz="1300"/>
            </a:lvl1pPr>
          </a:lstStyle>
          <a:p>
            <a:fld id="{0048289E-2F4B-4BDB-9E3D-307BE649A8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B388D-069F-4B10-B5C6-708258CCC995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282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CAF35-E817-4E01-A40C-B51EFC6BC3B2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63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A0A9-DFFF-4AF3-9EA8-86E56B98BCAC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0392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62D2F-A701-42A8-A352-1EDB7091594D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770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346D3-D25C-4012-9373-E949EA6EA283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491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49E12-F3FD-435A-8936-974942BF07BD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722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2B17-CB9C-4258-96C2-A6BFF00643A8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673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97377-4976-467E-B8ED-99A6D7DF965B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095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3F8BB-397E-4991-BA0B-220B5965CF9E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27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9AA10-EAD2-4B75-BFB4-B3744E7377CE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797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6C28-0264-411A-B087-999E218B5FBC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15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5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7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8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9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965646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42033" y="201600"/>
            <a:ext cx="7925729" cy="627075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333F5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endParaRPr lang="en-GB" dirty="0"/>
          </a:p>
        </p:txBody>
      </p:sp>
      <p:cxnSp>
        <p:nvCxnSpPr>
          <p:cNvPr id="11" name="Прямая соединительная линия 1030"/>
          <p:cNvCxnSpPr/>
          <p:nvPr userDrawn="1"/>
        </p:nvCxnSpPr>
        <p:spPr>
          <a:xfrm>
            <a:off x="842034" y="861920"/>
            <a:ext cx="7925338" cy="0"/>
          </a:xfrm>
          <a:prstGeom prst="line">
            <a:avLst/>
          </a:prstGeom>
          <a:ln w="47625">
            <a:solidFill>
              <a:srgbClr val="7D8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3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4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5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17" name="TextBox 16"/>
          <p:cNvSpPr txBox="1"/>
          <p:nvPr userDrawn="1"/>
        </p:nvSpPr>
        <p:spPr>
          <a:xfrm>
            <a:off x="8339920" y="6613200"/>
            <a:ext cx="720000" cy="19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fld id="{9AE4D82F-B047-469B-AC52-A46321747EAF}" type="slidenum">
              <a:rPr lang="en-GB" sz="1100" smtClean="0">
                <a:solidFill>
                  <a:srgbClr val="676767"/>
                </a:solidFill>
              </a:rPr>
              <a:pPr algn="ctr"/>
              <a:t>‹#›</a:t>
            </a:fld>
            <a:endParaRPr lang="en-GB" sz="1100" dirty="0">
              <a:solidFill>
                <a:srgbClr val="6767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2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0B688F-0F0E-4C9B-AB96-A13AB5275397}" type="datetime1">
              <a:rPr lang="ru-RU" smtClean="0"/>
              <a:pPr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13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28935717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">
                  <p:embed/>
                </p:oleObj>
              </mc:Choice>
              <mc:Fallback>
                <p:oleObj name="think-cell Slide" r:id="rId5" imgW="360" imgH="360" progId="">
                  <p:embed/>
                  <p:pic>
                    <p:nvPicPr>
                      <p:cNvPr id="0" name="Picture 3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5663" y="201600"/>
            <a:ext cx="7927975" cy="62707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773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>
          <a:solidFill>
            <a:srgbClr val="333F50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400" kern="1200">
          <a:solidFill>
            <a:srgbClr val="333F50"/>
          </a:solidFill>
          <a:latin typeface="+mn-lt"/>
          <a:ea typeface="+mn-ea"/>
          <a:cs typeface="+mn-cs"/>
        </a:defRPr>
      </a:lvl1pPr>
      <a:lvl2pPr marL="7096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000" kern="1200">
          <a:solidFill>
            <a:srgbClr val="333F50"/>
          </a:solidFill>
          <a:latin typeface="+mn-lt"/>
          <a:ea typeface="+mn-ea"/>
          <a:cs typeface="+mn-cs"/>
        </a:defRPr>
      </a:lvl2pPr>
      <a:lvl3pPr marL="10779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00" kern="1200">
          <a:solidFill>
            <a:srgbClr val="333F50"/>
          </a:solidFill>
          <a:latin typeface="+mn-lt"/>
          <a:ea typeface="+mn-ea"/>
          <a:cs typeface="+mn-cs"/>
        </a:defRPr>
      </a:lvl3pPr>
      <a:lvl4pPr marL="1433513" indent="-3556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4pPr>
      <a:lvl5pPr marL="1787525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wmf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image" Target="../media/image40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34855" y="2321004"/>
            <a:ext cx="6032810" cy="221599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ТЕМА ДИССЕРТАЦИИ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  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Исследование динамики возмущенного движения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ракеты-носителя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с учетом упругости конструкции</a:t>
            </a:r>
          </a:p>
          <a:p>
            <a:pPr algn="ctr"/>
            <a:endParaRPr lang="ru-RU" sz="1500" dirty="0">
              <a:solidFill>
                <a:schemeClr val="bg1"/>
              </a:solidFill>
              <a:latin typeface="+mj-lt"/>
            </a:endParaRP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по научное направление №2.5.16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«Динамика, баллистика, управление движением 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летательных аппаратов»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813629"/>
            <a:ext cx="4415883" cy="209288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Elektra Text Pro" panose="02000503030000020004" pitchFamily="50" charset="-52"/>
              </a:rPr>
              <a:t>Автор: аспирант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Сметана Владимир Владимирович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Давыдов Игорь Евгеньевич</a:t>
            </a:r>
          </a:p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г.</a:t>
            </a:r>
          </a:p>
          <a:p>
            <a:pPr algn="ctr"/>
            <a:endParaRPr lang="ru-R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Самара</a:t>
            </a:r>
          </a:p>
          <a:p>
            <a:pPr algn="ctr"/>
            <a:endParaRPr lang="ru-RU" sz="1400" dirty="0">
              <a:solidFill>
                <a:schemeClr val="bg1"/>
              </a:solidFill>
              <a:latin typeface="Elektra Text Pro" panose="02000503030000020004" pitchFamily="5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807328382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D2B8334-E24C-45D2-868B-63C2F46E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ТЕМАТИКА ИССЛЕДОВАНИЯ</a:t>
            </a:r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7D4B49B5-EB82-4261-B793-5A201423F9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1314675"/>
              </p:ext>
            </p:extLst>
          </p:nvPr>
        </p:nvGraphicFramePr>
        <p:xfrm>
          <a:off x="628650" y="1433945"/>
          <a:ext cx="8099715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0332">
                  <a:extLst>
                    <a:ext uri="{9D8B030D-6E8A-4147-A177-3AD203B41FA5}">
                      <a16:colId xmlns:a16="http://schemas.microsoft.com/office/drawing/2014/main" val="1529382275"/>
                    </a:ext>
                  </a:extLst>
                </a:gridCol>
                <a:gridCol w="2629478">
                  <a:extLst>
                    <a:ext uri="{9D8B030D-6E8A-4147-A177-3AD203B41FA5}">
                      <a16:colId xmlns:a16="http://schemas.microsoft.com/office/drawing/2014/main" val="960203478"/>
                    </a:ext>
                  </a:extLst>
                </a:gridCol>
                <a:gridCol w="2699905">
                  <a:extLst>
                    <a:ext uri="{9D8B030D-6E8A-4147-A177-3AD203B41FA5}">
                      <a16:colId xmlns:a16="http://schemas.microsoft.com/office/drawing/2014/main" val="2035117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Динамика многоразовых блоков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Изгибные колебания в ракетах-носителях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Аэродинамика и аэроупругость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121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 работе производится моделирование полета и возвращения ракетных блоков, рассматриваются условия пространственного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Производится моделирование изгибных колебаний методом последовательных приближений на каждом шаге интегрирования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Уточняются аэродинамические параметры и разрабатывается методика совместного учета колебательных и аэродинамических параметров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681731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F02E527B-E79E-40F5-81B7-EAB555293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/>
              <a:t>Исследование затрагивает три направления динамики возмущенного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242420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E23E2A-B27B-4F88-938D-0AFA3FDFF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ПРОБЛЕМАТИКА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90A609-8767-496A-85B9-B8B05A9D2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ru-RU" sz="1400" dirty="0"/>
              <a:t>Ограниченность принятых методик расчета аэродинамических коэффициентов 10 градусами угла атаки и 60 км высоты.</a:t>
            </a:r>
          </a:p>
          <a:p>
            <a:pPr marL="342900" indent="-342900">
              <a:buAutoNum type="arabicParenR"/>
            </a:pPr>
            <a:r>
              <a:rPr lang="ru-RU" sz="1400" dirty="0"/>
              <a:t>Проблематика учета несимметричности и систем возвращения</a:t>
            </a:r>
          </a:p>
          <a:p>
            <a:pPr marL="342900" indent="-342900">
              <a:buAutoNum type="arabicParenR"/>
            </a:pPr>
            <a:r>
              <a:rPr lang="ru-RU" sz="1400" dirty="0"/>
              <a:t>Необходимость в создании постоянно обновляющийся статистики расчета аэродинамики ракетного полета</a:t>
            </a:r>
          </a:p>
          <a:p>
            <a:pPr marL="342900" indent="-342900">
              <a:buAutoNum type="arabicParenR"/>
            </a:pPr>
            <a:r>
              <a:rPr lang="ru-RU" sz="14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Используется линейная интерполяция, что может давать погрешности при резких изменениях</a:t>
            </a:r>
          </a:p>
          <a:p>
            <a:pPr marL="342900" indent="-342900">
              <a:buAutoNum type="arabicParenR"/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учета колебания корпуса конструкции при расчете аэродинамических коэффициентов на каждом шаге интегрирования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9210405-4AF9-4029-81B7-7E0E100C2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4" r="18463"/>
          <a:stretch/>
        </p:blipFill>
        <p:spPr bwMode="auto">
          <a:xfrm>
            <a:off x="6217110" y="3494501"/>
            <a:ext cx="2084767" cy="2502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360CD05-E881-4F64-8172-39C9F1BE6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3" y="3728298"/>
            <a:ext cx="4948041" cy="226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742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8A592D-6CD8-4A67-875F-0A690D832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843BE52-541D-430B-BC89-84774CA4A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979054"/>
            <a:ext cx="2169968" cy="311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неопределенный">
            <a:extLst>
              <a:ext uri="{FF2B5EF4-FFF2-40B4-BE49-F238E27FC236}">
                <a16:creationId xmlns:a16="http://schemas.microsoft.com/office/drawing/2014/main" id="{41207147-D66B-4B60-825C-0827EA59A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6311" y="979054"/>
            <a:ext cx="2911559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6485B036-A0D4-470E-9DAD-1A2ED6F5B8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10" r="37188" b="888"/>
          <a:stretch/>
        </p:blipFill>
        <p:spPr bwMode="auto">
          <a:xfrm>
            <a:off x="3713523" y="979054"/>
            <a:ext cx="1463964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Объект 2">
            <a:extLst>
              <a:ext uri="{FF2B5EF4-FFF2-40B4-BE49-F238E27FC236}">
                <a16:creationId xmlns:a16="http://schemas.microsoft.com/office/drawing/2014/main" id="{6147B957-C501-400A-A555-DE36E822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17" y="4230954"/>
            <a:ext cx="1210975" cy="25307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ru-RU" sz="1400" dirty="0"/>
              <a:t>«Титан-3»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462AB81F-7F0D-42EF-A810-19ED638FCA9B}"/>
              </a:ext>
            </a:extLst>
          </p:cNvPr>
          <p:cNvSpPr txBox="1">
            <a:spLocks/>
          </p:cNvSpPr>
          <p:nvPr/>
        </p:nvSpPr>
        <p:spPr>
          <a:xfrm>
            <a:off x="6307931" y="4230954"/>
            <a:ext cx="1210975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</a:t>
            </a:r>
            <a:r>
              <a:rPr lang="en-US" sz="1400" dirty="0"/>
              <a:t>Callisto</a:t>
            </a:r>
            <a:r>
              <a:rPr lang="ru-RU" sz="1400" dirty="0"/>
              <a:t>»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4FDB1676-E676-40FC-9413-44FE1EA66FE4}"/>
              </a:ext>
            </a:extLst>
          </p:cNvPr>
          <p:cNvSpPr txBox="1">
            <a:spLocks/>
          </p:cNvSpPr>
          <p:nvPr/>
        </p:nvSpPr>
        <p:spPr>
          <a:xfrm>
            <a:off x="568613" y="4230954"/>
            <a:ext cx="2290041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«Классические» справочники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29CC0079-6568-4777-86E3-C29E9BC8C09D}"/>
              </a:ext>
            </a:extLst>
          </p:cNvPr>
          <p:cNvSpPr txBox="1">
            <a:spLocks/>
          </p:cNvSpPr>
          <p:nvPr/>
        </p:nvSpPr>
        <p:spPr>
          <a:xfrm>
            <a:off x="628650" y="5048045"/>
            <a:ext cx="8016587" cy="9744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dirty="0"/>
              <a:t>Как правило, для в качестве аэродинамических параметров берутся параметры ракеты-прототипа. Такие данные ограничены свойствами эталона и не учитывают колебательных эффектов. Существует необходимость в создании обновляемой базы данных, учитывающей данные эффекты. Работы отечественных исследователей базируются на справочной литературе или конкретных характеристиках эталонной ракеты (часто «Титан-3»), зарубежные источники используют «</a:t>
            </a:r>
            <a:r>
              <a:rPr lang="en-US" sz="1400" dirty="0"/>
              <a:t>Callisto</a:t>
            </a:r>
            <a:r>
              <a:rPr lang="ru-RU" sz="1400" dirty="0"/>
              <a:t>».</a:t>
            </a:r>
          </a:p>
        </p:txBody>
      </p:sp>
    </p:spTree>
    <p:extLst>
      <p:ext uri="{BB962C8B-B14F-4D97-AF65-F5344CB8AC3E}">
        <p14:creationId xmlns:p14="http://schemas.microsoft.com/office/powerpoint/2010/main" val="16041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11A67B6-6D3F-4F58-87A0-D9D78431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4061707C-BACE-4BC3-AA5B-9E94FEFEA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396" y="1016947"/>
            <a:ext cx="3204440" cy="3857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1FA36498-AB7A-4978-B41F-E5BA1DAD4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090" y="1283011"/>
            <a:ext cx="4932219" cy="2478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4">
            <a:extLst>
              <a:ext uri="{FF2B5EF4-FFF2-40B4-BE49-F238E27FC236}">
                <a16:creationId xmlns:a16="http://schemas.microsoft.com/office/drawing/2014/main" id="{0D8C6D2B-7095-4FD8-B45B-BD9BD6060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3089" y="3861523"/>
            <a:ext cx="4932219" cy="22832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>
                <a:latin typeface="+mj-lt"/>
              </a:rPr>
              <a:t>Активное использование статистических параметров, а также учет колебаний только на этапе динамических расчетов может создать расхождение с реальными данными, что может повлечь за собой ошибки предварительных расчетов. Это подтверждают следующие источники: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C6458-1C23-4D05-89BF-A5853725994C}"/>
              </a:ext>
            </a:extLst>
          </p:cNvPr>
          <p:cNvSpPr txBox="1"/>
          <p:nvPr/>
        </p:nvSpPr>
        <p:spPr>
          <a:xfrm>
            <a:off x="462395" y="5003152"/>
            <a:ext cx="83029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sz="1400" b="1" i="0" dirty="0" err="1">
                <a:solidFill>
                  <a:srgbClr val="333333"/>
                </a:solidFill>
                <a:effectLst/>
                <a:latin typeface="YS Text"/>
              </a:rPr>
              <a:t>Ендуткина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,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Е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.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А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.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Обеспечение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управляемости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первой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ступени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ракеты</a:t>
            </a:r>
            <a:r>
              <a:rPr lang="ru-RU" sz="1400" dirty="0">
                <a:solidFill>
                  <a:srgbClr val="333333"/>
                </a:solidFill>
                <a:latin typeface="YS Text"/>
              </a:rPr>
              <a:t> –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носителя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с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использованием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расчетных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профилей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ветра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перед</a:t>
            </a:r>
            <a:r>
              <a:rPr lang="ru-RU" sz="1400" b="0" i="0" dirty="0">
                <a:solidFill>
                  <a:srgbClr val="333333"/>
                </a:solidFill>
                <a:effectLst/>
                <a:latin typeface="YS Text"/>
              </a:rPr>
              <a:t> </a:t>
            </a:r>
            <a:r>
              <a:rPr lang="ru-RU" sz="1400" b="1" i="0" dirty="0">
                <a:solidFill>
                  <a:srgbClr val="333333"/>
                </a:solidFill>
                <a:effectLst/>
                <a:latin typeface="YS Text"/>
              </a:rPr>
              <a:t>пуском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00266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09C62-45D8-44D5-BB2A-1CACA7BD7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58327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ОБЪЕКТЫ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C63B65-106A-4551-BE31-61DDA4E3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115" y="1046018"/>
            <a:ext cx="6386176" cy="5031654"/>
          </a:xfrm>
        </p:spPr>
        <p:txBody>
          <a:bodyPr>
            <a:normAutofit/>
          </a:bodyPr>
          <a:lstStyle/>
          <a:p>
            <a:r>
              <a:rPr lang="ru-RU" sz="1800" dirty="0">
                <a:latin typeface="+mj-lt"/>
              </a:rPr>
              <a:t>Объектами исследования являются двухступенчатые ракеты-носители различных классов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E6FE84-4792-4697-ADEC-6CE7EB7DC2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44"/>
          <a:stretch/>
        </p:blipFill>
        <p:spPr>
          <a:xfrm>
            <a:off x="7816685" y="1046018"/>
            <a:ext cx="949053" cy="4567527"/>
          </a:xfrm>
          <a:prstGeom prst="rect">
            <a:avLst/>
          </a:prstGeom>
        </p:spPr>
      </p:pic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CA19F3F6-CECB-4129-9F5B-BC506D23D7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07" b="30532"/>
          <a:stretch/>
        </p:blipFill>
        <p:spPr bwMode="auto">
          <a:xfrm rot="16200000" flipV="1">
            <a:off x="321955" y="5022130"/>
            <a:ext cx="1082257" cy="100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C2D45760-9DDB-4A8A-8901-099619760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18715"/>
              </p:ext>
            </p:extLst>
          </p:nvPr>
        </p:nvGraphicFramePr>
        <p:xfrm>
          <a:off x="1307149" y="1794164"/>
          <a:ext cx="6216791" cy="280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074">
                  <a:extLst>
                    <a:ext uri="{9D8B030D-6E8A-4147-A177-3AD203B41FA5}">
                      <a16:colId xmlns:a16="http://schemas.microsoft.com/office/drawing/2014/main" val="2562717497"/>
                    </a:ext>
                  </a:extLst>
                </a:gridCol>
                <a:gridCol w="4064717">
                  <a:extLst>
                    <a:ext uri="{9D8B030D-6E8A-4147-A177-3AD203B41FA5}">
                      <a16:colId xmlns:a16="http://schemas.microsoft.com/office/drawing/2014/main" val="3757391654"/>
                    </a:ext>
                  </a:extLst>
                </a:gridCol>
              </a:tblGrid>
              <a:tr h="57002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Виды ракет-носителей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Семейства ракет-носителей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129155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легкого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</a:t>
                      </a:r>
                      <a:r>
                        <a:rPr lang="en-US" sz="1600" dirty="0" err="1"/>
                        <a:t>Blackarrow</a:t>
                      </a:r>
                      <a:r>
                        <a:rPr lang="en-US" sz="1600" dirty="0"/>
                        <a:t>”, “Electron”, “</a:t>
                      </a:r>
                      <a:r>
                        <a:rPr lang="en-US" sz="1600" dirty="0" err="1"/>
                        <a:t>FireFly</a:t>
                      </a:r>
                      <a:r>
                        <a:rPr lang="en-US" sz="1600" dirty="0"/>
                        <a:t> Alpha”, “Isa”, “Kinetika-2”,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Stalker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Vector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-R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Ангара-1,2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Союз-2.1в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258734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среднего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“Antares”, “CZ-2C”, “Falcon-9”,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Kosmos-3M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Terran-1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Titan 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Zenit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Амур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Союз-5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“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Циклон-2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08621"/>
                  </a:ext>
                </a:extLst>
              </a:tr>
              <a:tr h="5820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РН тяжелого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“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Starship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964193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7FF2615C-FD78-4B6F-AC35-9AFE3CC10F15}"/>
              </a:ext>
            </a:extLst>
          </p:cNvPr>
          <p:cNvSpPr txBox="1">
            <a:spLocks/>
          </p:cNvSpPr>
          <p:nvPr/>
        </p:nvSpPr>
        <p:spPr>
          <a:xfrm>
            <a:off x="466361" y="5712763"/>
            <a:ext cx="840788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Electron</a:t>
            </a:r>
            <a:r>
              <a:rPr lang="ru-RU" sz="1000" dirty="0">
                <a:latin typeface="+mj-lt"/>
              </a:rPr>
              <a:t>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C526FC08-2F2A-4240-A627-2521C2CA3C55}"/>
              </a:ext>
            </a:extLst>
          </p:cNvPr>
          <p:cNvSpPr txBox="1">
            <a:spLocks/>
          </p:cNvSpPr>
          <p:nvPr/>
        </p:nvSpPr>
        <p:spPr>
          <a:xfrm>
            <a:off x="7676136" y="5712763"/>
            <a:ext cx="1230150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Superheavy-Starship</a:t>
            </a:r>
            <a:r>
              <a:rPr lang="ru-RU" sz="1000" dirty="0">
                <a:latin typeface="+mj-lt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4218952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FCB9ED-E80B-491B-A770-8BAE1907F80F}"/>
              </a:ext>
            </a:extLst>
          </p:cNvPr>
          <p:cNvPicPr/>
          <p:nvPr/>
        </p:nvPicPr>
        <p:blipFill rotWithShape="1">
          <a:blip r:embed="rId2"/>
          <a:srcRect l="1700" t="2367" r="1109" b="2663"/>
          <a:stretch/>
        </p:blipFill>
        <p:spPr bwMode="auto">
          <a:xfrm>
            <a:off x="2955636" y="2869325"/>
            <a:ext cx="5343190" cy="33652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3852D-C4ED-48BC-808D-6A576637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ДВИЖЕНИЕ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065999CD-39A3-417F-96B5-40072CB5C6F9}"/>
                  </a:ext>
                </a:extLst>
              </p:cNvPr>
              <p:cNvSpPr/>
              <p:nvPr/>
            </p:nvSpPr>
            <p:spPr>
              <a:xfrm>
                <a:off x="3556619" y="1054572"/>
                <a:ext cx="4585189" cy="40092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ru-RU" sz="14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acc>
                              <m:accPr>
                                <m:chr m:val="̈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ϑϑ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ϑ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ϑδ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ru-RU" sz="1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</m:e>
                            </m:d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e>
                        </m:mr>
                        <m:m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acc>
                              <m:accPr>
                                <m:chr m:val="̈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ϑ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ru-RU" sz="1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</m:e>
                            </m:d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eqArr>
                              <m:eqArr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(1+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̈"/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𝑠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)+</m:t>
                                </m:r>
                                <m:f>
                                  <m:f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acc>
                                  <m:accPr>
                                    <m:chr m:val="̇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</m:e>
                              <m:e>
                                <m:r>
                                  <a:rPr lang="ru-RU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  <m:d>
                                  <m:d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ru-RU" sz="1400">
                                                <a:latin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</m:acc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ru-RU" sz="1400">
                                                <a:latin typeface="Cambria Math" panose="02040503050406030204" pitchFamily="18" charset="0"/>
                                              </a:rPr>
                                              <m:t>W</m:t>
                                            </m:r>
                                          </m:e>
                                          <m:sub>
                                            <m: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𝜗</m:t>
                                        </m:r>
                                      </m:sub>
                                    </m:sSub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</m:e>
                            </m:eqAr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065999CD-39A3-417F-96B5-40072CB5C6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619" y="1054572"/>
                <a:ext cx="4585189" cy="4009239"/>
              </a:xfrm>
              <a:prstGeom prst="rect">
                <a:avLst/>
              </a:prstGeom>
              <a:blipFill>
                <a:blip r:embed="rId3"/>
                <a:stretch>
                  <a:fillRect r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utoShape 2">
            <a:extLst>
              <a:ext uri="{FF2B5EF4-FFF2-40B4-BE49-F238E27FC236}">
                <a16:creationId xmlns:a16="http://schemas.microsoft.com/office/drawing/2014/main" id="{D14E9EB9-6110-489A-BDCD-E2EA010769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2" descr="Схема">
            <a:extLst>
              <a:ext uri="{FF2B5EF4-FFF2-40B4-BE49-F238E27FC236}">
                <a16:creationId xmlns:a16="http://schemas.microsoft.com/office/drawing/2014/main" id="{B8CB951F-BBE5-4A30-AF84-9A7897362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43735"/>
            <a:ext cx="3032349" cy="4202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8477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E5F772D-9135-4A6E-AF47-ACAE2F474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КОЛЕБАНИЯ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901FC4-DC94-4C77-AEAA-820DB5A40D7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876800" y="4256121"/>
            <a:ext cx="4146550" cy="209434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9AA6BA6-C046-438F-AA51-E37423802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16" y="1079723"/>
            <a:ext cx="3943884" cy="424180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C4DECCE-CC09-47CD-A102-BF5A1FD7DB16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138657" y="941587"/>
            <a:ext cx="3238726" cy="2909977"/>
          </a:xfrm>
          <a:prstGeom prst="rect">
            <a:avLst/>
          </a:prstGeom>
        </p:spPr>
      </p:pic>
      <p:pic>
        <p:nvPicPr>
          <p:cNvPr id="9" name="01.eps">
            <a:extLst>
              <a:ext uri="{FF2B5EF4-FFF2-40B4-BE49-F238E27FC236}">
                <a16:creationId xmlns:a16="http://schemas.microsoft.com/office/drawing/2014/main" id="{D3E25C18-8223-4777-B326-E77C3571767C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39583" y="5303292"/>
            <a:ext cx="3943884" cy="1047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92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EB0315-C9E9-45EC-BF0B-BF8CEBE0F50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8650" y="896363"/>
            <a:ext cx="3721677" cy="260421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8352379-B165-4A6D-A303-15CA6C91B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АЭРОДИНАМИКА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1FD18EC-A674-416C-B65B-843AB26A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402" y="1044144"/>
            <a:ext cx="3721676" cy="22460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0C3594A-F00D-4E8F-90E7-BFC1B71C3B91}"/>
              </a:ext>
            </a:extLst>
          </p:cNvPr>
          <p:cNvPicPr/>
          <p:nvPr/>
        </p:nvPicPr>
        <p:blipFill rotWithShape="1">
          <a:blip r:embed="rId4"/>
          <a:srcRect t="10778" r="12857"/>
          <a:stretch/>
        </p:blipFill>
        <p:spPr>
          <a:xfrm rot="5400000">
            <a:off x="1541625" y="2587607"/>
            <a:ext cx="2246026" cy="407197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E04F22C-1AFE-4B4C-80E3-B9D444ACAF13}"/>
              </a:ext>
            </a:extLst>
          </p:cNvPr>
          <p:cNvPicPr/>
          <p:nvPr/>
        </p:nvPicPr>
        <p:blipFill rotWithShape="1">
          <a:blip r:embed="rId5"/>
          <a:srcRect l="2185" t="10250" r="10637"/>
          <a:stretch/>
        </p:blipFill>
        <p:spPr>
          <a:xfrm rot="5400000">
            <a:off x="5656520" y="3042361"/>
            <a:ext cx="1959070" cy="30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138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44FC3D07-F12F-48DE-AA68-BC892DE6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АЭРОУПРУГОСТЬ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41F71C-812F-43B9-B17F-BC87E0DE6287}"/>
                  </a:ext>
                </a:extLst>
              </p:cNvPr>
              <p:cNvSpPr txBox="1"/>
              <p:nvPr/>
            </p:nvSpPr>
            <p:spPr>
              <a:xfrm>
                <a:off x="140240" y="1112097"/>
                <a:ext cx="3213678" cy="2992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𝑞𝑆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41F71C-812F-43B9-B17F-BC87E0DE6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40" y="1112097"/>
                <a:ext cx="3213678" cy="299249"/>
              </a:xfrm>
              <a:prstGeom prst="rect">
                <a:avLst/>
              </a:prstGeom>
              <a:blipFill>
                <a:blip r:embed="rId2"/>
                <a:stretch>
                  <a:fillRect l="-2467" t="-26000" b="-3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0301CAC-8ECC-4312-A70B-8CA2CE641B71}"/>
                  </a:ext>
                </a:extLst>
              </p:cNvPr>
              <p:cNvSpPr txBox="1"/>
              <p:nvPr/>
            </p:nvSpPr>
            <p:spPr>
              <a:xfrm>
                <a:off x="83703" y="1396551"/>
                <a:ext cx="4645887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0301CAC-8ECC-4312-A70B-8CA2CE641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3" y="1396551"/>
                <a:ext cx="4645887" cy="7265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CF7ACA-A7E6-409E-A02C-AA70C15FCDCD}"/>
                  </a:ext>
                </a:extLst>
              </p:cNvPr>
              <p:cNvSpPr txBox="1"/>
              <p:nvPr/>
            </p:nvSpPr>
            <p:spPr>
              <a:xfrm>
                <a:off x="83703" y="1998043"/>
                <a:ext cx="2808397" cy="656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𝑎𝑆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CF7ACA-A7E6-409E-A02C-AA70C15FC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3" y="1998043"/>
                <a:ext cx="2808397" cy="6568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4E456C-C3BE-4101-8489-1E551D3091F2}"/>
                  </a:ext>
                </a:extLst>
              </p:cNvPr>
              <p:cNvSpPr txBox="1"/>
              <p:nvPr/>
            </p:nvSpPr>
            <p:spPr>
              <a:xfrm>
                <a:off x="136789" y="3098525"/>
                <a:ext cx="2495234" cy="6517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4E456C-C3BE-4101-8489-1E551D309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89" y="3098525"/>
                <a:ext cx="2495234" cy="6517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Объект 2">
            <a:extLst>
              <a:ext uri="{FF2B5EF4-FFF2-40B4-BE49-F238E27FC236}">
                <a16:creationId xmlns:a16="http://schemas.microsoft.com/office/drawing/2014/main" id="{75BE72FA-106A-47D3-B79F-34DC04027C2D}"/>
              </a:ext>
            </a:extLst>
          </p:cNvPr>
          <p:cNvSpPr txBox="1">
            <a:spLocks/>
          </p:cNvSpPr>
          <p:nvPr/>
        </p:nvSpPr>
        <p:spPr>
          <a:xfrm>
            <a:off x="-52611" y="2607790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Из условия статического равновесия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8755CC-01E4-45F7-8EA3-DFCC954BE9CB}"/>
                  </a:ext>
                </a:extLst>
              </p:cNvPr>
              <p:cNvSpPr txBox="1"/>
              <p:nvPr/>
            </p:nvSpPr>
            <p:spPr>
              <a:xfrm>
                <a:off x="136789" y="4108081"/>
                <a:ext cx="4015522" cy="71833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)∙</m:t>
                              </m:r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8755CC-01E4-45F7-8EA3-DFCC954BE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89" y="4108081"/>
                <a:ext cx="4015522" cy="7183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Объект 2">
            <a:extLst>
              <a:ext uri="{FF2B5EF4-FFF2-40B4-BE49-F238E27FC236}">
                <a16:creationId xmlns:a16="http://schemas.microsoft.com/office/drawing/2014/main" id="{AFE7CE6B-0BCC-4391-A52A-6EB38ECFF37D}"/>
              </a:ext>
            </a:extLst>
          </p:cNvPr>
          <p:cNvSpPr txBox="1">
            <a:spLocks/>
          </p:cNvSpPr>
          <p:nvPr/>
        </p:nvSpPr>
        <p:spPr>
          <a:xfrm>
            <a:off x="-52611" y="3617346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Следует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5B1B955-007E-4858-B5A4-EDAE02A5A444}"/>
                  </a:ext>
                </a:extLst>
              </p:cNvPr>
              <p:cNvSpPr txBox="1"/>
              <p:nvPr/>
            </p:nvSpPr>
            <p:spPr>
              <a:xfrm>
                <a:off x="5243338" y="1149045"/>
                <a:ext cx="2379690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5B1B955-007E-4858-B5A4-EDAE02A5A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338" y="1149045"/>
                <a:ext cx="2379690" cy="7265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17957D6-D7D8-4037-BA60-1B931BD8052F}"/>
                  </a:ext>
                </a:extLst>
              </p:cNvPr>
              <p:cNvSpPr txBox="1"/>
              <p:nvPr/>
            </p:nvSpPr>
            <p:spPr>
              <a:xfrm>
                <a:off x="5244796" y="1719077"/>
                <a:ext cx="3192734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17957D6-D7D8-4037-BA60-1B931BD80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96" y="1719077"/>
                <a:ext cx="3192734" cy="7265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Объект 2">
            <a:extLst>
              <a:ext uri="{FF2B5EF4-FFF2-40B4-BE49-F238E27FC236}">
                <a16:creationId xmlns:a16="http://schemas.microsoft.com/office/drawing/2014/main" id="{9714935E-19E2-42D7-98E9-ACEF43C3D9C1}"/>
              </a:ext>
            </a:extLst>
          </p:cNvPr>
          <p:cNvSpPr txBox="1">
            <a:spLocks/>
          </p:cNvSpPr>
          <p:nvPr/>
        </p:nvSpPr>
        <p:spPr>
          <a:xfrm>
            <a:off x="4975923" y="2414055"/>
            <a:ext cx="3463065" cy="651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Принимая условие равновесия моды</a:t>
            </a:r>
            <a:r>
              <a:rPr lang="en-US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4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FA2BB03-C951-469C-BFD8-7AE21C1656E8}"/>
                  </a:ext>
                </a:extLst>
              </p:cNvPr>
              <p:cNvSpPr txBox="1"/>
              <p:nvPr/>
            </p:nvSpPr>
            <p:spPr>
              <a:xfrm>
                <a:off x="5244796" y="2785137"/>
                <a:ext cx="3103285" cy="9350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FA2BB03-C951-469C-BFD8-7AE21C165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96" y="2785137"/>
                <a:ext cx="3103285" cy="9350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D148194-98AE-47CE-AF03-43A7C7506518}"/>
                  </a:ext>
                </a:extLst>
              </p:cNvPr>
              <p:cNvSpPr txBox="1"/>
              <p:nvPr/>
            </p:nvSpPr>
            <p:spPr>
              <a:xfrm>
                <a:off x="5179123" y="3556713"/>
                <a:ext cx="3820533" cy="9350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D148194-98AE-47CE-AF03-43A7C7506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123" y="3556713"/>
                <a:ext cx="3820533" cy="93506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548A6F-9CE2-4885-BC77-D0053E676614}"/>
                  </a:ext>
                </a:extLst>
              </p:cNvPr>
              <p:cNvSpPr txBox="1"/>
              <p:nvPr/>
            </p:nvSpPr>
            <p:spPr>
              <a:xfrm>
                <a:off x="4729590" y="4579366"/>
                <a:ext cx="4414410" cy="81945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∆</m:t>
                          </m:r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𝑞𝑆</m:t>
                      </m:r>
                      <m:sSubSup>
                        <m:sSub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nary>
                        <m:naryPr>
                          <m:chr m:val="∑"/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subHide m:val="on"/>
                                          <m:supHide m:val="on"/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𝜑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𝑑𝑥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548A6F-9CE2-4885-BC77-D0053E676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590" y="4579366"/>
                <a:ext cx="4414410" cy="8194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9326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A153ED-2DF0-40B8-B6D0-C848008D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63240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ВЕРИФИКАЦИЯ В </a:t>
            </a:r>
            <a:r>
              <a:rPr lang="en-US" sz="2000" dirty="0">
                <a:solidFill>
                  <a:schemeClr val="bg1"/>
                </a:solidFill>
              </a:rPr>
              <a:t>CAE </a:t>
            </a:r>
            <a:r>
              <a:rPr lang="ru-RU" sz="2000" dirty="0">
                <a:solidFill>
                  <a:schemeClr val="bg1"/>
                </a:solidFill>
              </a:rPr>
              <a:t>ПАКЕТАХ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E49DF4F-E97A-4823-BE2A-84AD35C57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09526"/>
            <a:ext cx="4153459" cy="1905000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4CBAFF0-2850-42D4-AB81-FAB788281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788" y="3005149"/>
            <a:ext cx="6732143" cy="311756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756941-9428-4761-92F1-897F35BD6CBF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282" y="909526"/>
            <a:ext cx="3479165" cy="1905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9C8F14C8-22A8-4F5C-A8CB-385A76071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855697"/>
              </p:ext>
            </p:extLst>
          </p:nvPr>
        </p:nvGraphicFramePr>
        <p:xfrm>
          <a:off x="4349924" y="5715428"/>
          <a:ext cx="4375535" cy="4072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76461">
                  <a:extLst>
                    <a:ext uri="{9D8B030D-6E8A-4147-A177-3AD203B41FA5}">
                      <a16:colId xmlns:a16="http://schemas.microsoft.com/office/drawing/2014/main" val="628869656"/>
                    </a:ext>
                  </a:extLst>
                </a:gridCol>
                <a:gridCol w="666134">
                  <a:extLst>
                    <a:ext uri="{9D8B030D-6E8A-4147-A177-3AD203B41FA5}">
                      <a16:colId xmlns:a16="http://schemas.microsoft.com/office/drawing/2014/main" val="2587417124"/>
                    </a:ext>
                  </a:extLst>
                </a:gridCol>
                <a:gridCol w="666806">
                  <a:extLst>
                    <a:ext uri="{9D8B030D-6E8A-4147-A177-3AD203B41FA5}">
                      <a16:colId xmlns:a16="http://schemas.microsoft.com/office/drawing/2014/main" val="1061787484"/>
                    </a:ext>
                  </a:extLst>
                </a:gridCol>
                <a:gridCol w="666134">
                  <a:extLst>
                    <a:ext uri="{9D8B030D-6E8A-4147-A177-3AD203B41FA5}">
                      <a16:colId xmlns:a16="http://schemas.microsoft.com/office/drawing/2014/main" val="11650739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Метод получения данных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1 тон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>
                          <a:effectLst/>
                        </a:rPr>
                        <a:t>2 тон</a:t>
                      </a:r>
                      <a:endParaRPr lang="ru-RU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3 тон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8578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Погрешность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 1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7%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2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7%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800"/>
                        </a:spcAft>
                      </a:pPr>
                      <a:r>
                        <a:rPr lang="ru-RU" sz="1200" dirty="0">
                          <a:effectLst/>
                        </a:rPr>
                        <a:t> 7</a:t>
                      </a:r>
                      <a:r>
                        <a:rPr lang="en-US" sz="1200" dirty="0">
                          <a:effectLst/>
                        </a:rPr>
                        <a:t>,</a:t>
                      </a:r>
                      <a:r>
                        <a:rPr lang="ru-RU" sz="1200" dirty="0">
                          <a:effectLst/>
                        </a:rPr>
                        <a:t>1%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8869079"/>
                  </a:ext>
                </a:extLst>
              </a:tr>
            </a:tbl>
          </a:graphicData>
        </a:graphic>
      </p:graphicFrame>
      <p:pic>
        <p:nvPicPr>
          <p:cNvPr id="2050" name="Picture 2" descr="Aeroelasticity | SDA Software">
            <a:extLst>
              <a:ext uri="{FF2B5EF4-FFF2-40B4-BE49-F238E27FC236}">
                <a16:creationId xmlns:a16="http://schemas.microsoft.com/office/drawing/2014/main" id="{5F8F8824-DB03-4FE4-970B-36DB01017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3328421"/>
            <a:ext cx="2623853" cy="2167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312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A09FDF8-943E-4642-94E5-1E9F2194F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63240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ПРИМЕНЕНИЕ МОДЕЛИ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2BBD10BD-D45B-4AF3-93CC-7F0FD5090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51563"/>
              </p:ext>
            </p:extLst>
          </p:nvPr>
        </p:nvGraphicFramePr>
        <p:xfrm>
          <a:off x="628650" y="1108363"/>
          <a:ext cx="8118188" cy="37790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5750">
                  <a:extLst>
                    <a:ext uri="{9D8B030D-6E8A-4147-A177-3AD203B41FA5}">
                      <a16:colId xmlns:a16="http://schemas.microsoft.com/office/drawing/2014/main" val="2066060571"/>
                    </a:ext>
                  </a:extLst>
                </a:gridCol>
                <a:gridCol w="4378036">
                  <a:extLst>
                    <a:ext uri="{9D8B030D-6E8A-4147-A177-3AD203B41FA5}">
                      <a16:colId xmlns:a16="http://schemas.microsoft.com/office/drawing/2014/main" val="129025210"/>
                    </a:ext>
                  </a:extLst>
                </a:gridCol>
                <a:gridCol w="1154546">
                  <a:extLst>
                    <a:ext uri="{9D8B030D-6E8A-4147-A177-3AD203B41FA5}">
                      <a16:colId xmlns:a16="http://schemas.microsoft.com/office/drawing/2014/main" val="1468809360"/>
                    </a:ext>
                  </a:extLst>
                </a:gridCol>
                <a:gridCol w="2299856">
                  <a:extLst>
                    <a:ext uri="{9D8B030D-6E8A-4147-A177-3AD203B41FA5}">
                      <a16:colId xmlns:a16="http://schemas.microsoft.com/office/drawing/2014/main" val="1257418002"/>
                    </a:ext>
                  </a:extLst>
                </a:gridCol>
              </a:tblGrid>
              <a:tr h="1316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</a:rPr>
                        <a:t>№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</a:rPr>
                        <a:t>Наименование работы, ее вид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</a:rPr>
                        <a:t>Форма работы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</a:rPr>
                        <a:t>Фамилия соавторов работ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extLst>
                  <a:ext uri="{0D108BD9-81ED-4DB2-BD59-A6C34878D82A}">
                    <a16:rowId xmlns:a16="http://schemas.microsoft.com/office/drawing/2014/main" val="769028932"/>
                  </a:ext>
                </a:extLst>
              </a:tr>
              <a:tr h="131690">
                <a:tc grid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</a:rPr>
                        <a:t>Печатные научные работы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4585235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Исследование динамики возмущенного движения многоразового упругого блока ракеты-носителя на участке посадки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Статья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Сметана В.В. Давыдов И.Е. </a:t>
                      </a:r>
                      <a:r>
                        <a:rPr lang="en-US" sz="1100">
                          <a:effectLst/>
                        </a:rPr>
                        <a:t>Лазарев А.А.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31413596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</a:rPr>
                        <a:t> Исследование динамических характеристик   экспериментальной модели ракеты   с пассивной аэродинамической стабилизацией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Майоров В.В. Соколова А.О. </a:t>
                      </a:r>
                      <a:r>
                        <a:rPr lang="en-US" sz="1100">
                          <a:effectLst/>
                        </a:rPr>
                        <a:t>Сметана В.В.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912185996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Исследование динамики возмущенного движения многоразового упругого блока ракеты носителя на участке посадки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</a:rPr>
                        <a:t>Сметана В.В. Лазарев А.А. </a:t>
                      </a:r>
                      <a:r>
                        <a:rPr lang="en-US" sz="1100" dirty="0" err="1">
                          <a:effectLst/>
                        </a:rPr>
                        <a:t>Давыдов</a:t>
                      </a:r>
                      <a:r>
                        <a:rPr lang="en-US" sz="1100" dirty="0">
                          <a:effectLst/>
                        </a:rPr>
                        <a:t> И.Е.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340443952"/>
                  </a:ext>
                </a:extLst>
              </a:tr>
              <a:tr h="1316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Расчет динамики возмущенного движения многоразового ракетного блока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Сметана В.В. Ли Ц. </a:t>
                      </a:r>
                      <a:r>
                        <a:rPr lang="en-US" sz="1100">
                          <a:effectLst/>
                        </a:rPr>
                        <a:t>Давыдов И.Е.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806294487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5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Исследование динамических характеристик экспериментальной модели ракеты с пассивной аэродинамической стабилизацией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Майоров В.В. Соколова А.О Сметана В.В. Давыдов И.Е.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3541397797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6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Проектирование и расчет полетных параметров ракеты-носителя с многоразовым ракетным блоком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Ли Ц. Сметана В.В. </a:t>
                      </a:r>
                      <a:r>
                        <a:rPr lang="en-US" sz="1100">
                          <a:effectLst/>
                        </a:rPr>
                        <a:t>Давыдов И.Е.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57379405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7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Расчет динамики возмущенного движения ракеты-носителя легкого класса с учетом ветрового нагружения и упругости конструкции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Сметана В.В. Хайруллин И.И. Глушков С.В. Давыдов И.Е.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551344510"/>
                  </a:ext>
                </a:extLst>
              </a:tr>
              <a:tr h="2590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Проектирование многоразовой ракеты-носителя легкого класса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</a:rPr>
                        <a:t>Материалы конференций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</a:rPr>
                        <a:t>Сметана В.В. Хайруллин И.И. </a:t>
                      </a:r>
                      <a:r>
                        <a:rPr lang="en-US" sz="1100" dirty="0" err="1">
                          <a:effectLst/>
                        </a:rPr>
                        <a:t>Давыдов</a:t>
                      </a:r>
                      <a:r>
                        <a:rPr lang="en-US" sz="1100" dirty="0">
                          <a:effectLst/>
                        </a:rPr>
                        <a:t> И.Е.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2144723098"/>
                  </a:ext>
                </a:extLst>
              </a:tr>
              <a:tr h="1316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>
                          <a:effectLst/>
                        </a:rPr>
                        <a:t>9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</a:rPr>
                        <a:t>Исследование динамических характеристик тяжелой ракеты-носителя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 err="1">
                          <a:effectLst/>
                        </a:rPr>
                        <a:t>Материалы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конференций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100" dirty="0">
                          <a:effectLst/>
                        </a:rPr>
                        <a:t>Сметана В.В. Давыдов И.Е.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671" marR="6671" marT="6671" marB="6671" anchor="ctr"/>
                </a:tc>
                <a:extLst>
                  <a:ext uri="{0D108BD9-81ED-4DB2-BD59-A6C34878D82A}">
                    <a16:rowId xmlns:a16="http://schemas.microsoft.com/office/drawing/2014/main" val="1567164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8279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488CB66E-03A9-48D2-AA6F-5B883C94B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861281"/>
                  </p:ext>
                </p:extLst>
              </p:nvPr>
            </p:nvGraphicFramePr>
            <p:xfrm>
              <a:off x="1604962" y="1051786"/>
              <a:ext cx="5934075" cy="3015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83360">
                      <a:extLst>
                        <a:ext uri="{9D8B030D-6E8A-4147-A177-3AD203B41FA5}">
                          <a16:colId xmlns:a16="http://schemas.microsoft.com/office/drawing/2014/main" val="3526854651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1490214727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679441411"/>
                        </a:ext>
                      </a:extLst>
                    </a:gridCol>
                    <a:gridCol w="1483995">
                      <a:extLst>
                        <a:ext uri="{9D8B030D-6E8A-4147-A177-3AD203B41FA5}">
                          <a16:colId xmlns:a16="http://schemas.microsoft.com/office/drawing/2014/main" val="69630990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Время, с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40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80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544593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Скорость, м</a:t>
                          </a:r>
                          <a:r>
                            <a:rPr lang="en-US" sz="1400">
                              <a:effectLst/>
                            </a:rPr>
                            <a:t>/c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200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1000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1500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915048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Высота, км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25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35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195178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:r>
                            <a:rPr lang="en-US" sz="1400">
                              <a:effectLst/>
                            </a:rPr>
                            <a:t>Q</a:t>
                          </a:r>
                          <a:r>
                            <a:rPr lang="ru-RU" sz="1400">
                              <a:effectLst/>
                            </a:rPr>
                            <a:t>, Па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13611.2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18802.5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14905.1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31551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0,33445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0,51079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0,45153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34053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град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0,10337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0,12385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0,10298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052128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>
                                  <a:effectLst/>
                                  <a:latin typeface="Cambria Math" panose="02040503050406030204" pitchFamily="18" charset="0"/>
                                </a:rPr>
                                <m:t>, град</m:t>
                              </m:r>
                            </m:oMath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+0.000118°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+0.000189°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+0.000105°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547508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-0,021 (6,32%)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-0,044 (8,52%)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-0,036 (5,57%)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775900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град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-0,00158 (4,5%)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-0,00186 (</a:t>
                          </a:r>
                          <a:r>
                            <a:rPr lang="ru-RU" sz="1400">
                              <a:effectLst/>
                            </a:rPr>
                            <a:t>5</a:t>
                          </a:r>
                          <a:r>
                            <a:rPr lang="en-US" sz="1400">
                              <a:effectLst/>
                            </a:rPr>
                            <a:t>,3%)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-0,00105 (3,1</a:t>
                          </a:r>
                          <a:r>
                            <a:rPr lang="ru-RU" sz="1400">
                              <a:effectLst/>
                            </a:rPr>
                            <a:t>%</a:t>
                          </a:r>
                          <a:r>
                            <a:rPr lang="en-US" sz="1400">
                              <a:effectLst/>
                            </a:rPr>
                            <a:t>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855502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US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oMath>
                            </m:oMathPara>
                          </a14:m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-0,062 (0,24%)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-0,073 (0,28%)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dirty="0">
                              <a:effectLst/>
                            </a:rPr>
                            <a:t>-0,036 (0,14%)</a:t>
                          </a:r>
                          <a:endParaRPr lang="ru-RU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19966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488CB66E-03A9-48D2-AA6F-5B883C94B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861281"/>
                  </p:ext>
                </p:extLst>
              </p:nvPr>
            </p:nvGraphicFramePr>
            <p:xfrm>
              <a:off x="1604962" y="1051786"/>
              <a:ext cx="5934075" cy="302501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83360">
                      <a:extLst>
                        <a:ext uri="{9D8B030D-6E8A-4147-A177-3AD203B41FA5}">
                          <a16:colId xmlns:a16="http://schemas.microsoft.com/office/drawing/2014/main" val="3526854651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1490214727"/>
                        </a:ext>
                      </a:extLst>
                    </a:gridCol>
                    <a:gridCol w="1483360">
                      <a:extLst>
                        <a:ext uri="{9D8B030D-6E8A-4147-A177-3AD203B41FA5}">
                          <a16:colId xmlns:a16="http://schemas.microsoft.com/office/drawing/2014/main" val="679441411"/>
                        </a:ext>
                      </a:extLst>
                    </a:gridCol>
                    <a:gridCol w="1483995">
                      <a:extLst>
                        <a:ext uri="{9D8B030D-6E8A-4147-A177-3AD203B41FA5}">
                          <a16:colId xmlns:a16="http://schemas.microsoft.com/office/drawing/2014/main" val="696309908"/>
                        </a:ext>
                      </a:extLst>
                    </a:gridCol>
                  </a:tblGrid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Время, с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40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80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54459305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Скорость, м</a:t>
                          </a:r>
                          <a:r>
                            <a:rPr lang="en-US" sz="1400">
                              <a:effectLst/>
                            </a:rPr>
                            <a:t>/c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200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1000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1500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91504821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Высота, км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25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35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19517872"/>
                      </a:ext>
                    </a:extLst>
                  </a:tr>
                  <a:tr h="21678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 </a:t>
                          </a:r>
                          <a:r>
                            <a:rPr lang="en-US" sz="1400">
                              <a:effectLst/>
                            </a:rPr>
                            <a:t>Q</a:t>
                          </a:r>
                          <a:r>
                            <a:rPr lang="ru-RU" sz="1400">
                              <a:effectLst/>
                            </a:rPr>
                            <a:t>, Па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13611.2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18802.5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</a:rPr>
                            <a:t>14905.1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3155159"/>
                      </a:ext>
                    </a:extLst>
                  </a:tr>
                  <a:tr h="32988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274545" r="-302469" b="-54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0,33445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0,51079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0,45153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340535"/>
                      </a:ext>
                    </a:extLst>
                  </a:tr>
                  <a:tr h="35077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361404" r="-302469" b="-4298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0,10337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0,12385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0,10298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0521289"/>
                      </a:ext>
                    </a:extLst>
                  </a:tr>
                  <a:tr h="44507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360274" r="-302469" b="-2356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+0.000118°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+0.000189°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+0.000105° (0.01%)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54750828"/>
                      </a:ext>
                    </a:extLst>
                  </a:tr>
                  <a:tr h="32988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610909" r="-302469" b="-21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-0,021 (6,32%)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-0,044 (8,52%) 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-0,036 (5,57%)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77590054"/>
                      </a:ext>
                    </a:extLst>
                  </a:tr>
                  <a:tr h="35077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685965" r="-302469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-0,00158 (4,5%)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-0,00186 (</a:t>
                          </a:r>
                          <a:r>
                            <a:rPr lang="ru-RU" sz="1400">
                              <a:effectLst/>
                            </a:rPr>
                            <a:t>5</a:t>
                          </a:r>
                          <a:r>
                            <a:rPr lang="en-US" sz="1400">
                              <a:effectLst/>
                            </a:rPr>
                            <a:t>,3%)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-0,00105 (3,1</a:t>
                          </a:r>
                          <a:r>
                            <a:rPr lang="ru-RU" sz="1400">
                              <a:effectLst/>
                            </a:rPr>
                            <a:t>%</a:t>
                          </a:r>
                          <a:r>
                            <a:rPr lang="en-US" sz="1400">
                              <a:effectLst/>
                            </a:rPr>
                            <a:t>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8555022"/>
                      </a:ext>
                    </a:extLst>
                  </a:tr>
                  <a:tr h="351473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12" t="-772414" r="-302469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-0,062 (0,24%)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</a:rPr>
                            <a:t>-0,073 (0,28%)</a:t>
                          </a:r>
                          <a:endParaRPr lang="ru-RU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dirty="0">
                              <a:effectLst/>
                            </a:rPr>
                            <a:t>-0,036 (0,14%)</a:t>
                          </a:r>
                          <a:endParaRPr lang="ru-RU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19966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E8837F93-1FB9-4819-8894-C33D43766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АНАЛИЗ ВЛИЯНИЯ</a:t>
            </a:r>
          </a:p>
        </p:txBody>
      </p:sp>
    </p:spTree>
    <p:extLst>
      <p:ext uri="{BB962C8B-B14F-4D97-AF65-F5344CB8AC3E}">
        <p14:creationId xmlns:p14="http://schemas.microsoft.com/office/powerpoint/2010/main" val="3439913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024044-0F10-4DEF-88CA-508519B25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АНАЛИЗ ВЛИЯНИЯ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4A95979-C25F-4239-A524-B111BA4E6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26" y="796706"/>
            <a:ext cx="8117609" cy="534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39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14FA5B1-78EC-41D1-921B-E474F47A2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ИЗМЕНЕНИЕ ПОЛЕТНЫХ ПАРАМЕТРОВ</a:t>
            </a:r>
          </a:p>
        </p:txBody>
      </p:sp>
      <p:pic>
        <p:nvPicPr>
          <p:cNvPr id="5" name="16.eps">
            <a:extLst>
              <a:ext uri="{FF2B5EF4-FFF2-40B4-BE49-F238E27FC236}">
                <a16:creationId xmlns:a16="http://schemas.microsoft.com/office/drawing/2014/main" id="{075AEB3E-F7B6-459F-87AA-BC42AE68BC9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28650" y="1025814"/>
            <a:ext cx="4305300" cy="4991100"/>
          </a:xfrm>
          <a:prstGeom prst="rect">
            <a:avLst/>
          </a:prstGeom>
        </p:spPr>
      </p:pic>
      <p:pic>
        <p:nvPicPr>
          <p:cNvPr id="6" name="17.eps">
            <a:extLst>
              <a:ext uri="{FF2B5EF4-FFF2-40B4-BE49-F238E27FC236}">
                <a16:creationId xmlns:a16="http://schemas.microsoft.com/office/drawing/2014/main" id="{2513E553-CDA0-46C2-A728-E1E6DD1FBA0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33950" y="1025814"/>
            <a:ext cx="3865707" cy="380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05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7B7EE-E322-4B69-B969-7CDD93E6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AF618231-E164-4627-A88A-555ADAAE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558193"/>
              </p:ext>
            </p:extLst>
          </p:nvPr>
        </p:nvGraphicFramePr>
        <p:xfrm>
          <a:off x="628650" y="1201420"/>
          <a:ext cx="8080784" cy="445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0392">
                  <a:extLst>
                    <a:ext uri="{9D8B030D-6E8A-4147-A177-3AD203B41FA5}">
                      <a16:colId xmlns:a16="http://schemas.microsoft.com/office/drawing/2014/main" val="1220497466"/>
                    </a:ext>
                  </a:extLst>
                </a:gridCol>
                <a:gridCol w="4040392">
                  <a:extLst>
                    <a:ext uri="{9D8B030D-6E8A-4147-A177-3AD203B41FA5}">
                      <a16:colId xmlns:a16="http://schemas.microsoft.com/office/drawing/2014/main" val="2024354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Выполнено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Запланировано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2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1) Создана расчетная модель для оценки колебательных и аэродинамических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) </a:t>
                      </a:r>
                      <a:r>
                        <a:rPr lang="ru-RU" sz="1400" dirty="0"/>
                        <a:t>Аппроксимация новых данных для уточнения статистики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4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2) Определен формат и воссоздана база данных ракет-носителей и 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2) Верификация модели с данными завода-изготовителя и подтверждение значительного вклада аэроупругости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9702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1400" dirty="0"/>
                        <a:t>3) Создан программный комплекс для моделирования динамики возмущенного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3) Формулирование математической модели новой методики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42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4) Сравнительный анализ результатов аналитического расчета и моделирования в </a:t>
                      </a:r>
                      <a:r>
                        <a:rPr lang="en-US" sz="1400" dirty="0"/>
                        <a:t>MSC Nastran</a:t>
                      </a:r>
                      <a:endParaRPr lang="ru-RU" sz="1400" dirty="0"/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01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5) Применение расчетной модели на ракетах-носителях с возвращаемыми частями и космических кораблях</a:t>
                      </a:r>
                    </a:p>
                    <a:p>
                      <a:pPr algn="l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588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157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1B88BBE-1CA0-458A-953E-1EE3CB1F2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9D00BDDF-6710-46B2-BC97-0702505E3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75121"/>
              </p:ext>
            </p:extLst>
          </p:nvPr>
        </p:nvGraphicFramePr>
        <p:xfrm>
          <a:off x="628651" y="1240325"/>
          <a:ext cx="8053532" cy="5091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511">
                  <a:extLst>
                    <a:ext uri="{9D8B030D-6E8A-4147-A177-3AD203B41FA5}">
                      <a16:colId xmlns:a16="http://schemas.microsoft.com/office/drawing/2014/main" val="4136704084"/>
                    </a:ext>
                  </a:extLst>
                </a:gridCol>
                <a:gridCol w="2653529">
                  <a:extLst>
                    <a:ext uri="{9D8B030D-6E8A-4147-A177-3AD203B41FA5}">
                      <a16:colId xmlns:a16="http://schemas.microsoft.com/office/drawing/2014/main" val="4256667896"/>
                    </a:ext>
                  </a:extLst>
                </a:gridCol>
                <a:gridCol w="2715492">
                  <a:extLst>
                    <a:ext uri="{9D8B030D-6E8A-4147-A177-3AD203B41FA5}">
                      <a16:colId xmlns:a16="http://schemas.microsoft.com/office/drawing/2014/main" val="3260174549"/>
                    </a:ext>
                  </a:extLst>
                </a:gridCol>
              </a:tblGrid>
              <a:tr h="354272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Опубликованы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 работе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229510"/>
                  </a:ext>
                </a:extLst>
              </a:tr>
              <a:tr h="312587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187253"/>
                  </a:ext>
                </a:extLst>
              </a:tr>
              <a:tr h="1384763">
                <a:tc>
                  <a:txBody>
                    <a:bodyPr/>
                    <a:lstStyle/>
                    <a:p>
                      <a:r>
                        <a:rPr lang="ru-RU" sz="1100" dirty="0"/>
                        <a:t>Сметана В.В., Давыдов И.Е., </a:t>
                      </a:r>
                    </a:p>
                    <a:p>
                      <a:r>
                        <a:rPr lang="ru-RU" sz="1100" dirty="0"/>
                        <a:t>Лазарев А.А. Исследование динамики возмущенного движения многоразового упругого блока ракеты-носителя на участке посадки // Инженерный журнал: наука и инновации. — 2024. — № 9 (153).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Сметана В.В., Давыдов И.Е., </a:t>
                      </a:r>
                    </a:p>
                    <a:p>
                      <a:r>
                        <a:rPr lang="ru-RU" sz="1100" dirty="0"/>
                        <a:t>Глушков С.В. Расчёт аэродинамических характеристик возвращаемого блока ракеты-носителя типа «Союз-2-1а» при моделировании его возмущенного движения // Космические аппараты и технологии. 2025. Т. 9. № 4. С. 226-239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i="0" dirty="0">
                          <a:latin typeface="+mn-lt"/>
                        </a:rPr>
                        <a:t>Сметана В.В., Давыдов И.Е. </a:t>
                      </a:r>
                      <a:r>
                        <a:rPr lang="ru-RU" sz="11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Анализ колебательных параметров ракет-носителей с учетом аэроупругости,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361306"/>
                  </a:ext>
                </a:extLst>
              </a:tr>
            </a:tbl>
          </a:graphicData>
        </a:graphic>
      </p:graphicFrame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F70C3CBD-2437-48FC-90AD-3702BA91584A}"/>
              </a:ext>
            </a:extLst>
          </p:cNvPr>
          <p:cNvSpPr txBox="1">
            <a:spLocks/>
          </p:cNvSpPr>
          <p:nvPr/>
        </p:nvSpPr>
        <p:spPr>
          <a:xfrm>
            <a:off x="628650" y="857397"/>
            <a:ext cx="7886700" cy="382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/>
              <a:t>Статьи уровня ВАК: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0A8255-3ADF-46BA-A939-CBD45E649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518" y="1726530"/>
            <a:ext cx="1995993" cy="283815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F324F3-8FAE-4FA7-BB25-0BDC2CE94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328" y="1726530"/>
            <a:ext cx="1922065" cy="283815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402C5F-B181-45B1-B956-F57677E9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4799" y="1711868"/>
            <a:ext cx="2129713" cy="286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2139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23510-D511-4650-A53F-CBBDB343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9454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ПРИМЕНЕНИЕ РЕЗУЛЬТАТОВ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682E9F-F909-49A3-A3D0-A5B1B4C40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79055"/>
            <a:ext cx="7886700" cy="5197908"/>
          </a:xfrm>
        </p:spPr>
        <p:txBody>
          <a:bodyPr>
            <a:normAutofit/>
          </a:bodyPr>
          <a:lstStyle/>
          <a:p>
            <a:pPr indent="0" algn="just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Результаты данной работы призваны помочь при проектировании отечественных многоразовых ракетных систем, снижая затраты на разработку и повышая безопасность возвращения.</a:t>
            </a: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Разрабатываемая методика должна войти в основу информационной базы по данной теме, а сделанные выводы отправной точкой для дальнейших исследований.</a:t>
            </a:r>
            <a:endParaRPr lang="ru-RU" sz="1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095F1D22-118E-48A2-BA2F-D04965BC0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6441" y="2903827"/>
            <a:ext cx="5818909" cy="3273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A12EDCE7-CEA8-4E00-8324-DE2BC7832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412" y="2441433"/>
            <a:ext cx="4243243" cy="2389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495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36692" y="634523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46527" y="2613392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СПАСИБО </a:t>
            </a:r>
          </a:p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7415617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/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EY_regular_presentation_2007">
  <a:themeElements>
    <a:clrScheme name="Custom 1">
      <a:dk1>
        <a:srgbClr val="000000"/>
      </a:dk1>
      <a:lt1>
        <a:srgbClr val="808080"/>
      </a:lt1>
      <a:dk2>
        <a:srgbClr val="FFFFFF"/>
      </a:dk2>
      <a:lt2>
        <a:srgbClr val="808080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>
        <a:spAutoFit/>
      </a:bodyPr>
      <a:lstStyle>
        <a:defPPr marL="285750" indent="-285750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smtClean="0"/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15531</TotalTime>
  <Words>1166</Words>
  <Application>Microsoft Office PowerPoint</Application>
  <PresentationFormat>Экран (4:3)</PresentationFormat>
  <Paragraphs>186</Paragraphs>
  <Slides>19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9" baseType="lpstr">
      <vt:lpstr>Arial</vt:lpstr>
      <vt:lpstr>Calibri</vt:lpstr>
      <vt:lpstr>Cambria Math</vt:lpstr>
      <vt:lpstr>Elektra Medium Pro</vt:lpstr>
      <vt:lpstr>Elektra Text Pro</vt:lpstr>
      <vt:lpstr>Times New Roman</vt:lpstr>
      <vt:lpstr>YS Text</vt:lpstr>
      <vt:lpstr>Тема Office</vt:lpstr>
      <vt:lpstr>EY_regular_presentation_2007</vt:lpstr>
      <vt:lpstr>think-cell Slide</vt:lpstr>
      <vt:lpstr>Презентация PowerPoint</vt:lpstr>
      <vt:lpstr>ТЕМАТИКА ИССЛЕДОВАНИЯ</vt:lpstr>
      <vt:lpstr>ПРОБЛЕМАТИКА ИССЛЕДОВАНИЯ</vt:lpstr>
      <vt:lpstr>СОСТОЯНИЕ ВОПРОСА</vt:lpstr>
      <vt:lpstr>СОСТОЯНИЕ ВОПРОСА</vt:lpstr>
      <vt:lpstr>ОБЪЕКТЫ ИССЛЕДОВАНИЯ</vt:lpstr>
      <vt:lpstr>МАТЕМАТИЧЕСКАЯ МОДЕЛЬ. ДВИЖЕНИЕ</vt:lpstr>
      <vt:lpstr>МАТЕМАТИЧЕСКАЯ МОДЕЛЬ. КОЛЕБАНИЯ</vt:lpstr>
      <vt:lpstr>МАТЕМАТИЧЕСКАЯ МОДЕЛЬ. АЭРОДИНАМИКА</vt:lpstr>
      <vt:lpstr>МАТЕМАТИЧЕСКАЯ МОДЕЛЬ. АЭРОУПРУГОСТЬ</vt:lpstr>
      <vt:lpstr>ВЕРИФИКАЦИЯ В CAE ПАКЕТАХ</vt:lpstr>
      <vt:lpstr>ПРИМЕНЕНИЕ МОДЕЛИ</vt:lpstr>
      <vt:lpstr>АНАЛИЗ ВЛИЯНИЯ</vt:lpstr>
      <vt:lpstr>АНАЛИЗ ВЛИЯНИЯ</vt:lpstr>
      <vt:lpstr>ИЗМЕНЕНИЕ ПОЛЕТНЫХ ПАРАМЕТРОВ</vt:lpstr>
      <vt:lpstr>СТАТУС РАБОТ ПО ТЕМЕ</vt:lpstr>
      <vt:lpstr>СТАТУС РАБОТ ПО ТЕМЕ</vt:lpstr>
      <vt:lpstr>ПРИМЕНЕНИЕ РЕЗУЛЬТАТОВ ИССЛЕДОВАНИЯ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Vladimir Smetana</cp:lastModifiedBy>
  <cp:revision>721</cp:revision>
  <cp:lastPrinted>2019-02-06T10:25:42Z</cp:lastPrinted>
  <dcterms:created xsi:type="dcterms:W3CDTF">2016-03-09T10:31:39Z</dcterms:created>
  <dcterms:modified xsi:type="dcterms:W3CDTF">2026-06-15T05:55:54Z</dcterms:modified>
</cp:coreProperties>
</file>