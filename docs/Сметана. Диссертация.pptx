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18"/>
  </p:notesMasterIdLst>
  <p:handoutMasterIdLst>
    <p:handoutMasterId r:id="rId19"/>
  </p:handoutMasterIdLst>
  <p:sldIdLst>
    <p:sldId id="465" r:id="rId3"/>
    <p:sldId id="566" r:id="rId4"/>
    <p:sldId id="559" r:id="rId5"/>
    <p:sldId id="560" r:id="rId6"/>
    <p:sldId id="565" r:id="rId7"/>
    <p:sldId id="561" r:id="rId8"/>
    <p:sldId id="562" r:id="rId9"/>
    <p:sldId id="568" r:id="rId10"/>
    <p:sldId id="567" r:id="rId11"/>
    <p:sldId id="570" r:id="rId12"/>
    <p:sldId id="569" r:id="rId13"/>
    <p:sldId id="563" r:id="rId14"/>
    <p:sldId id="558" r:id="rId15"/>
    <p:sldId id="564" r:id="rId16"/>
    <p:sldId id="470" r:id="rId17"/>
  </p:sldIdLst>
  <p:sldSz cx="9144000" cy="6858000" type="screen4x3"/>
  <p:notesSz cx="6735763" cy="9866313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DEFF"/>
    <a:srgbClr val="96AB94"/>
    <a:srgbClr val="FF9933"/>
    <a:srgbClr val="008080"/>
    <a:srgbClr val="339933"/>
    <a:srgbClr val="9C9C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992" autoAdjust="0"/>
    <p:restoredTop sz="92806" autoAdjust="0"/>
  </p:normalViewPr>
  <p:slideViewPr>
    <p:cSldViewPr snapToGrid="0">
      <p:cViewPr varScale="1">
        <p:scale>
          <a:sx n="104" d="100"/>
          <a:sy n="104" d="100"/>
        </p:scale>
        <p:origin x="1422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14754" y="1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/>
          <a:lstStyle>
            <a:lvl1pPr algn="r">
              <a:defRPr sz="1200"/>
            </a:lvl1pPr>
          </a:lstStyle>
          <a:p>
            <a:fld id="{82AF5981-886A-4F9A-B32B-CA52763BD825}" type="datetimeFigureOut">
              <a:rPr lang="ru-RU" smtClean="0"/>
              <a:pPr/>
              <a:t>27.02.2026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2" y="9371118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14754" y="9371118"/>
            <a:ext cx="2919454" cy="495196"/>
          </a:xfrm>
          <a:prstGeom prst="rect">
            <a:avLst/>
          </a:prstGeom>
        </p:spPr>
        <p:txBody>
          <a:bodyPr vert="horz" lIns="90028" tIns="45014" rIns="90028" bIns="45014" rtlCol="0" anchor="b"/>
          <a:lstStyle>
            <a:lvl1pPr algn="r">
              <a:defRPr sz="1200"/>
            </a:lvl1pPr>
          </a:lstStyle>
          <a:p>
            <a:fld id="{588AE88D-C0A5-4D31-BE30-C511186F55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0121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15373" y="1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/>
          <a:lstStyle>
            <a:lvl1pPr algn="r">
              <a:defRPr sz="1300"/>
            </a:lvl1pPr>
          </a:lstStyle>
          <a:p>
            <a:fld id="{77D36C68-DDAB-4D09-8E72-8E937BD7768C}" type="datetimeFigureOut">
              <a:rPr lang="ru-RU" smtClean="0"/>
              <a:pPr/>
              <a:t>26.02.2026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00113" y="739775"/>
            <a:ext cx="4935537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63" tIns="47431" rIns="94863" bIns="47431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3577" y="4686501"/>
            <a:ext cx="5388610" cy="4439841"/>
          </a:xfrm>
          <a:prstGeom prst="rect">
            <a:avLst/>
          </a:prstGeom>
        </p:spPr>
        <p:txBody>
          <a:bodyPr vert="horz" lIns="94863" tIns="47431" rIns="94863" bIns="47431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 anchor="b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3316"/>
          </a:xfrm>
          <a:prstGeom prst="rect">
            <a:avLst/>
          </a:prstGeom>
        </p:spPr>
        <p:txBody>
          <a:bodyPr vert="horz" lIns="94863" tIns="47431" rIns="94863" bIns="47431" rtlCol="0" anchor="b"/>
          <a:lstStyle>
            <a:lvl1pPr algn="r">
              <a:defRPr sz="1300"/>
            </a:lvl1pPr>
          </a:lstStyle>
          <a:p>
            <a:fld id="{0048289E-2F4B-4BDB-9E3D-307BE649A8B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57947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B388D-069F-4B10-B5C6-708258CCC995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6282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CAF35-E817-4E01-A40C-B51EFC6BC3B2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630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CA0A9-DFFF-4AF3-9EA8-86E56B98BCAC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0392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562D2F-A701-42A8-A352-1EDB7091594D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2770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346D3-D25C-4012-9373-E949EA6EA283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4911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49E12-F3FD-435A-8936-974942BF07BD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5722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92B17-CB9C-4258-96C2-A6BFF00643A8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673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97377-4976-467E-B8ED-99A6D7DF965B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5095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83F8BB-397E-4991-BA0B-220B5965CF9E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5277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9AA10-EAD2-4B75-BFB4-B3744E7377CE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797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6C28-0264-411A-B087-999E218B5FBC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15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"/>
          <a:stretch/>
        </p:blipFill>
        <p:spPr>
          <a:xfrm>
            <a:off x="1" y="6286500"/>
            <a:ext cx="1684066" cy="571500"/>
          </a:xfrm>
          <a:prstGeom prst="rect">
            <a:avLst/>
          </a:prstGeom>
        </p:spPr>
      </p:pic>
      <p:cxnSp>
        <p:nvCxnSpPr>
          <p:cNvPr id="15" name="Прямая соединительная линия 11"/>
          <p:cNvCxnSpPr/>
          <p:nvPr userDrawn="1"/>
        </p:nvCxnSpPr>
        <p:spPr>
          <a:xfrm>
            <a:off x="1661842" y="6714806"/>
            <a:ext cx="7450408" cy="0"/>
          </a:xfrm>
          <a:prstGeom prst="line">
            <a:avLst/>
          </a:prstGeom>
          <a:noFill/>
          <a:ln w="285750" cap="flat" cmpd="sng" algn="ctr">
            <a:gradFill flip="none" rotWithShape="1">
              <a:gsLst>
                <a:gs pos="91803">
                  <a:srgbClr val="5B9BD5">
                    <a:lumMod val="5000"/>
                    <a:lumOff val="95000"/>
                  </a:srgbClr>
                </a:gs>
                <a:gs pos="72000">
                  <a:sysClr val="window" lastClr="FFFFFF"/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0" scaled="1"/>
              <a:tileRect/>
            </a:gradFill>
            <a:prstDash val="solid"/>
            <a:miter lim="800000"/>
          </a:ln>
          <a:effectLst/>
        </p:spPr>
      </p:cxnSp>
      <p:cxnSp>
        <p:nvCxnSpPr>
          <p:cNvPr id="16" name="Прямая соединительная линия 24"/>
          <p:cNvCxnSpPr/>
          <p:nvPr userDrawn="1"/>
        </p:nvCxnSpPr>
        <p:spPr>
          <a:xfrm flipV="1">
            <a:off x="252599" y="0"/>
            <a:ext cx="0" cy="6309892"/>
          </a:xfrm>
          <a:prstGeom prst="line">
            <a:avLst/>
          </a:prstGeom>
          <a:noFill/>
          <a:ln w="508000" cap="flat" cmpd="sng" algn="ctr">
            <a:gradFill flip="none" rotWithShape="1">
              <a:gsLst>
                <a:gs pos="84000">
                  <a:srgbClr val="5B9BD5">
                    <a:lumMod val="5000"/>
                    <a:lumOff val="95000"/>
                  </a:srgbClr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5400000" scaled="1"/>
              <a:tileRect/>
            </a:gradFill>
            <a:prstDash val="solid"/>
            <a:miter lim="800000"/>
          </a:ln>
          <a:effectLst/>
        </p:spPr>
      </p:cxnSp>
      <p:cxnSp>
        <p:nvCxnSpPr>
          <p:cNvPr id="17" name="Прямая соединительная линия 26"/>
          <p:cNvCxnSpPr/>
          <p:nvPr userDrawn="1"/>
        </p:nvCxnSpPr>
        <p:spPr>
          <a:xfrm flipH="1" flipV="1">
            <a:off x="98478" y="2"/>
            <a:ext cx="18460" cy="6597548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8" name="Прямая соединительная линия 28"/>
          <p:cNvCxnSpPr/>
          <p:nvPr userDrawn="1"/>
        </p:nvCxnSpPr>
        <p:spPr>
          <a:xfrm flipV="1">
            <a:off x="252368" y="-101"/>
            <a:ext cx="5091" cy="6476554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9" name="Прямая соединительная линия 29"/>
          <p:cNvCxnSpPr/>
          <p:nvPr userDrawn="1"/>
        </p:nvCxnSpPr>
        <p:spPr>
          <a:xfrm flipV="1">
            <a:off x="391557" y="0"/>
            <a:ext cx="0" cy="6597550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48000">
                  <a:sysClr val="window" lastClr="FFFFFF">
                    <a:lumMod val="95000"/>
                  </a:sysClr>
                </a:gs>
                <a:gs pos="71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9656466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11"/>
          <p:cNvCxnSpPr/>
          <p:nvPr userDrawn="1"/>
        </p:nvCxnSpPr>
        <p:spPr>
          <a:xfrm>
            <a:off x="1661842" y="6714806"/>
            <a:ext cx="7450408" cy="0"/>
          </a:xfrm>
          <a:prstGeom prst="line">
            <a:avLst/>
          </a:prstGeom>
          <a:noFill/>
          <a:ln w="285750" cap="flat" cmpd="sng" algn="ctr">
            <a:gradFill flip="none" rotWithShape="1">
              <a:gsLst>
                <a:gs pos="91803">
                  <a:srgbClr val="5B9BD5">
                    <a:lumMod val="5000"/>
                    <a:lumOff val="95000"/>
                  </a:srgbClr>
                </a:gs>
                <a:gs pos="72000">
                  <a:sysClr val="window" lastClr="FFFFFF"/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0" scaled="1"/>
              <a:tileRect/>
            </a:gradFill>
            <a:prstDash val="solid"/>
            <a:miter lim="800000"/>
          </a:ln>
          <a:effectLst/>
        </p:spPr>
      </p:cxn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842033" y="201600"/>
            <a:ext cx="7925729" cy="627075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333F5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endParaRPr lang="en-GB" dirty="0"/>
          </a:p>
        </p:txBody>
      </p:sp>
      <p:cxnSp>
        <p:nvCxnSpPr>
          <p:cNvPr id="11" name="Прямая соединительная линия 1030"/>
          <p:cNvCxnSpPr/>
          <p:nvPr userDrawn="1"/>
        </p:nvCxnSpPr>
        <p:spPr>
          <a:xfrm>
            <a:off x="842034" y="861920"/>
            <a:ext cx="7925338" cy="0"/>
          </a:xfrm>
          <a:prstGeom prst="line">
            <a:avLst/>
          </a:prstGeom>
          <a:ln w="47625">
            <a:solidFill>
              <a:srgbClr val="7D8F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Рисунок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"/>
          <a:stretch/>
        </p:blipFill>
        <p:spPr>
          <a:xfrm>
            <a:off x="1" y="6286500"/>
            <a:ext cx="1684066" cy="571500"/>
          </a:xfrm>
          <a:prstGeom prst="rect">
            <a:avLst/>
          </a:prstGeom>
        </p:spPr>
      </p:pic>
      <p:cxnSp>
        <p:nvCxnSpPr>
          <p:cNvPr id="13" name="Прямая соединительная линия 24"/>
          <p:cNvCxnSpPr/>
          <p:nvPr userDrawn="1"/>
        </p:nvCxnSpPr>
        <p:spPr>
          <a:xfrm flipV="1">
            <a:off x="252599" y="0"/>
            <a:ext cx="0" cy="6309892"/>
          </a:xfrm>
          <a:prstGeom prst="line">
            <a:avLst/>
          </a:prstGeom>
          <a:noFill/>
          <a:ln w="508000" cap="flat" cmpd="sng" algn="ctr">
            <a:gradFill flip="none" rotWithShape="1">
              <a:gsLst>
                <a:gs pos="84000">
                  <a:srgbClr val="5B9BD5">
                    <a:lumMod val="5000"/>
                    <a:lumOff val="95000"/>
                  </a:srgbClr>
                </a:gs>
                <a:gs pos="0">
                  <a:srgbClr val="6580BB"/>
                </a:gs>
                <a:gs pos="21000">
                  <a:srgbClr val="44546A">
                    <a:lumMod val="60000"/>
                    <a:lumOff val="40000"/>
                  </a:srgbClr>
                </a:gs>
                <a:gs pos="0">
                  <a:srgbClr val="7994DF"/>
                </a:gs>
                <a:gs pos="0">
                  <a:srgbClr val="7F9CBB"/>
                </a:gs>
              </a:gsLst>
              <a:lin ang="5400000" scaled="1"/>
              <a:tileRect/>
            </a:gradFill>
            <a:prstDash val="solid"/>
            <a:miter lim="800000"/>
          </a:ln>
          <a:effectLst/>
        </p:spPr>
      </p:cxnSp>
      <p:cxnSp>
        <p:nvCxnSpPr>
          <p:cNvPr id="14" name="Прямая соединительная линия 26"/>
          <p:cNvCxnSpPr/>
          <p:nvPr userDrawn="1"/>
        </p:nvCxnSpPr>
        <p:spPr>
          <a:xfrm flipH="1" flipV="1">
            <a:off x="98478" y="2"/>
            <a:ext cx="18460" cy="6597548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5" name="Прямая соединительная линия 28"/>
          <p:cNvCxnSpPr/>
          <p:nvPr userDrawn="1"/>
        </p:nvCxnSpPr>
        <p:spPr>
          <a:xfrm flipV="1">
            <a:off x="252368" y="-101"/>
            <a:ext cx="5091" cy="6476554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74000">
                  <a:sysClr val="window" lastClr="FFFFFF">
                    <a:lumMod val="95000"/>
                  </a:sysClr>
                </a:gs>
                <a:gs pos="83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cxnSp>
        <p:nvCxnSpPr>
          <p:cNvPr id="16" name="Прямая соединительная линия 29"/>
          <p:cNvCxnSpPr/>
          <p:nvPr userDrawn="1"/>
        </p:nvCxnSpPr>
        <p:spPr>
          <a:xfrm flipV="1">
            <a:off x="391557" y="0"/>
            <a:ext cx="0" cy="6597550"/>
          </a:xfrm>
          <a:prstGeom prst="line">
            <a:avLst/>
          </a:prstGeom>
          <a:noFill/>
          <a:ln w="63500" cap="flat" cmpd="sng" algn="ctr">
            <a:gradFill>
              <a:gsLst>
                <a:gs pos="0">
                  <a:sysClr val="window" lastClr="FFFFFF"/>
                </a:gs>
                <a:gs pos="48000">
                  <a:sysClr val="window" lastClr="FFFFFF">
                    <a:lumMod val="95000"/>
                  </a:sysClr>
                </a:gs>
                <a:gs pos="71000">
                  <a:sysClr val="window" lastClr="FFFFFF">
                    <a:lumMod val="95000"/>
                  </a:sysClr>
                </a:gs>
                <a:gs pos="100000">
                  <a:sysClr val="window" lastClr="FFFFFF">
                    <a:lumMod val="95000"/>
                  </a:sysClr>
                </a:gs>
              </a:gsLst>
              <a:lin ang="5400000" scaled="1"/>
            </a:gradFill>
            <a:prstDash val="solid"/>
            <a:miter lim="800000"/>
          </a:ln>
          <a:effectLst/>
        </p:spPr>
      </p:cxnSp>
      <p:sp>
        <p:nvSpPr>
          <p:cNvPr id="17" name="TextBox 16"/>
          <p:cNvSpPr txBox="1"/>
          <p:nvPr userDrawn="1"/>
        </p:nvSpPr>
        <p:spPr>
          <a:xfrm>
            <a:off x="8339920" y="6613200"/>
            <a:ext cx="720000" cy="19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fld id="{9AE4D82F-B047-469B-AC52-A46321747EAF}" type="slidenum">
              <a:rPr lang="en-GB" sz="1100" smtClean="0">
                <a:solidFill>
                  <a:srgbClr val="676767"/>
                </a:solidFill>
              </a:rPr>
              <a:pPr algn="ctr"/>
              <a:t>‹#›</a:t>
            </a:fld>
            <a:endParaRPr lang="en-GB" sz="1100" dirty="0">
              <a:solidFill>
                <a:srgbClr val="6767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277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0B688F-0F0E-4C9B-AB96-A13AB5275397}" type="datetime1">
              <a:rPr lang="ru-RU" smtClean="0"/>
              <a:pPr/>
              <a:t>26.02.2026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0F9EB-2112-4866-8AFC-0758B0B74D1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013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228935717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">
                  <p:embed/>
                </p:oleObj>
              </mc:Choice>
              <mc:Fallback>
                <p:oleObj name="think-cell Slide" r:id="rId5" imgW="360" imgH="360" progId="">
                  <p:embed/>
                  <p:pic>
                    <p:nvPicPr>
                      <p:cNvPr id="0" name="Picture 3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5663" y="201600"/>
            <a:ext cx="7927975" cy="62707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97737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b="1" kern="1200">
          <a:solidFill>
            <a:srgbClr val="333F50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400" kern="1200">
          <a:solidFill>
            <a:srgbClr val="333F50"/>
          </a:solidFill>
          <a:latin typeface="+mn-lt"/>
          <a:ea typeface="+mn-ea"/>
          <a:cs typeface="+mn-cs"/>
        </a:defRPr>
      </a:lvl1pPr>
      <a:lvl2pPr marL="709613" indent="-354013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2000" kern="1200">
          <a:solidFill>
            <a:srgbClr val="333F50"/>
          </a:solidFill>
          <a:latin typeface="+mn-lt"/>
          <a:ea typeface="+mn-ea"/>
          <a:cs typeface="+mn-cs"/>
        </a:defRPr>
      </a:lvl2pPr>
      <a:lvl3pPr marL="1077913" indent="-354013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800" kern="1200">
          <a:solidFill>
            <a:srgbClr val="333F50"/>
          </a:solidFill>
          <a:latin typeface="+mn-lt"/>
          <a:ea typeface="+mn-ea"/>
          <a:cs typeface="+mn-cs"/>
        </a:defRPr>
      </a:lvl3pPr>
      <a:lvl4pPr marL="1433513" indent="-355600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00" kern="1200">
          <a:solidFill>
            <a:srgbClr val="333F50"/>
          </a:solidFill>
          <a:latin typeface="+mn-lt"/>
          <a:ea typeface="+mn-ea"/>
          <a:cs typeface="+mn-cs"/>
        </a:defRPr>
      </a:lvl4pPr>
      <a:lvl5pPr marL="1787525" indent="-354013" algn="l" defTabSz="914400" rtl="0" eaLnBrk="1" latinLnBrk="0" hangingPunct="1">
        <a:spcBef>
          <a:spcPct val="20000"/>
        </a:spcBef>
        <a:buClr>
          <a:schemeClr val="accent2"/>
        </a:buClr>
        <a:buSzPct val="70000"/>
        <a:buFont typeface="Arial" pitchFamily="34" charset="0"/>
        <a:buChar char="►"/>
        <a:defRPr sz="1600" kern="1200">
          <a:solidFill>
            <a:srgbClr val="333F5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34855" y="2205588"/>
            <a:ext cx="6032810" cy="2446824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ТЕМА ДИССЕРТАЦИИ</a:t>
            </a: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  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  <a:latin typeface="+mj-lt"/>
              </a:rPr>
              <a:t>Исследование динамики возмущенного движения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  <a:latin typeface="+mj-lt"/>
              </a:rPr>
              <a:t> ракеты-носителя</a:t>
            </a:r>
          </a:p>
          <a:p>
            <a:pPr algn="ctr"/>
            <a:r>
              <a:rPr lang="ru-RU" sz="1600" b="1" dirty="0">
                <a:solidFill>
                  <a:schemeClr val="bg1"/>
                </a:solidFill>
                <a:latin typeface="+mj-lt"/>
              </a:rPr>
              <a:t> с учетом упругости конструкции</a:t>
            </a:r>
          </a:p>
          <a:p>
            <a:pPr algn="ctr"/>
            <a:endParaRPr lang="ru-RU" sz="1500" dirty="0">
              <a:solidFill>
                <a:schemeClr val="bg1"/>
              </a:solidFill>
              <a:latin typeface="+mj-lt"/>
            </a:endParaRP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кандидатский экзамен </a:t>
            </a: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по научному направлению №2.5.16</a:t>
            </a: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«Динамика, баллистика, управление движением </a:t>
            </a:r>
          </a:p>
          <a:p>
            <a:pPr algn="ctr"/>
            <a:r>
              <a:rPr lang="ru-RU" sz="1500" dirty="0">
                <a:solidFill>
                  <a:schemeClr val="bg1"/>
                </a:solidFill>
                <a:latin typeface="+mj-lt"/>
              </a:rPr>
              <a:t>летательных аппаратов»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4813629"/>
            <a:ext cx="4415883" cy="209288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spcBef>
                <a:spcPts val="12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Elektra Text Pro" panose="02000503030000020004" pitchFamily="50" charset="-52"/>
              </a:rPr>
              <a:t>Выполнил: аспирант</a:t>
            </a:r>
          </a:p>
          <a:p>
            <a:pPr algn="ctr">
              <a:spcBef>
                <a:spcPts val="6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Сметана Владимир Владимирович</a:t>
            </a:r>
          </a:p>
          <a:p>
            <a:pPr algn="ctr">
              <a:spcBef>
                <a:spcPts val="6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Давыдов Игорь Евгеньевич</a:t>
            </a:r>
          </a:p>
          <a:p>
            <a:pPr algn="ctr">
              <a:spcBef>
                <a:spcPts val="1200"/>
              </a:spcBef>
              <a:tabLst>
                <a:tab pos="630555" algn="l"/>
              </a:tabLst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г.</a:t>
            </a:r>
          </a:p>
          <a:p>
            <a:pPr algn="ctr"/>
            <a:endParaRPr lang="ru-RU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г. Самара</a:t>
            </a:r>
          </a:p>
          <a:p>
            <a:pPr algn="ctr"/>
            <a:endParaRPr lang="ru-RU" sz="1400" dirty="0">
              <a:solidFill>
                <a:schemeClr val="bg1"/>
              </a:solidFill>
              <a:latin typeface="Elektra Text Pro" panose="02000503030000020004" pitchFamily="5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807328382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D2B8334-E24C-45D2-868B-63C2F46E2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6485"/>
            <a:ext cx="7886700" cy="522114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ТЕМАТИКА ИССЛЕДОВАНИЯ</a:t>
            </a:r>
          </a:p>
        </p:txBody>
      </p:sp>
      <p:graphicFrame>
        <p:nvGraphicFramePr>
          <p:cNvPr id="7" name="Таблица 7">
            <a:extLst>
              <a:ext uri="{FF2B5EF4-FFF2-40B4-BE49-F238E27FC236}">
                <a16:creationId xmlns:a16="http://schemas.microsoft.com/office/drawing/2014/main" id="{7D4B49B5-EB82-4261-B793-5A201423F9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2883978"/>
              </p:ext>
            </p:extLst>
          </p:nvPr>
        </p:nvGraphicFramePr>
        <p:xfrm>
          <a:off x="628650" y="1433945"/>
          <a:ext cx="809971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9905">
                  <a:extLst>
                    <a:ext uri="{9D8B030D-6E8A-4147-A177-3AD203B41FA5}">
                      <a16:colId xmlns:a16="http://schemas.microsoft.com/office/drawing/2014/main" val="1529382275"/>
                    </a:ext>
                  </a:extLst>
                </a:gridCol>
                <a:gridCol w="2699905">
                  <a:extLst>
                    <a:ext uri="{9D8B030D-6E8A-4147-A177-3AD203B41FA5}">
                      <a16:colId xmlns:a16="http://schemas.microsoft.com/office/drawing/2014/main" val="960203478"/>
                    </a:ext>
                  </a:extLst>
                </a:gridCol>
                <a:gridCol w="2699905">
                  <a:extLst>
                    <a:ext uri="{9D8B030D-6E8A-4147-A177-3AD203B41FA5}">
                      <a16:colId xmlns:a16="http://schemas.microsoft.com/office/drawing/2014/main" val="2035117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Динамика многоразовых блоков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Изгибные колебания в ракетах-носителях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Аэродинамика и аэроупругость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61213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В работе производится моделирование полета и возвращения ракетных блоков, рассматриваются условия пространственного движения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Производится моделирование изгибных колебаний на каждом шаге интегрирования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Уточняются аэродинамические параметры и разрабатывается методика совместного учета колебательных и аэродинамических параметров.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681731"/>
                  </a:ext>
                </a:extLst>
              </a:tr>
            </a:tbl>
          </a:graphicData>
        </a:graphic>
      </p:graphicFrame>
      <p:sp>
        <p:nvSpPr>
          <p:cNvPr id="8" name="Объект 2">
            <a:extLst>
              <a:ext uri="{FF2B5EF4-FFF2-40B4-BE49-F238E27FC236}">
                <a16:creationId xmlns:a16="http://schemas.microsoft.com/office/drawing/2014/main" id="{F02E527B-E79E-40F5-81B7-EAB555293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69819"/>
            <a:ext cx="8099714" cy="26859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400" dirty="0"/>
              <a:t>Исследование затрагивает три направления динамики возмущенного движения</a:t>
            </a:r>
          </a:p>
        </p:txBody>
      </p:sp>
    </p:spTree>
    <p:extLst>
      <p:ext uri="{BB962C8B-B14F-4D97-AF65-F5344CB8AC3E}">
        <p14:creationId xmlns:p14="http://schemas.microsoft.com/office/powerpoint/2010/main" val="2242420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E23E2A-B27B-4F88-938D-0AFA3FDFF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6485"/>
            <a:ext cx="7886700" cy="522114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ПРОБЛЕМАТИКА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90A609-8767-496A-85B9-B8B05A9D2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69819"/>
            <a:ext cx="8099714" cy="2685978"/>
          </a:xfrm>
        </p:spPr>
        <p:txBody>
          <a:bodyPr>
            <a:normAutofit/>
          </a:bodyPr>
          <a:lstStyle/>
          <a:p>
            <a:pPr marL="342900" indent="-342900">
              <a:buAutoNum type="arabicParenR"/>
            </a:pPr>
            <a:r>
              <a:rPr lang="ru-RU" sz="1400" dirty="0"/>
              <a:t>Ограниченность принятых методик расчета аэродинамических коэффициентов 10 градусами угла атаки и 60 км высоты.</a:t>
            </a:r>
          </a:p>
          <a:p>
            <a:pPr marL="342900" indent="-342900">
              <a:buAutoNum type="arabicParenR"/>
            </a:pPr>
            <a:r>
              <a:rPr lang="ru-RU" sz="1400" dirty="0"/>
              <a:t>Проблематика учета несимметричности и систем возвращения</a:t>
            </a:r>
          </a:p>
          <a:p>
            <a:pPr marL="342900" indent="-342900">
              <a:buAutoNum type="arabicParenR"/>
            </a:pPr>
            <a:r>
              <a:rPr lang="ru-RU" sz="1400" dirty="0"/>
              <a:t>Необходимость в создании постоянно обновляющийся статистики расчета аэродинамики ракетного полета</a:t>
            </a:r>
          </a:p>
          <a:p>
            <a:pPr marL="342900" indent="-342900">
              <a:buAutoNum type="arabicParenR"/>
            </a:pPr>
            <a:r>
              <a:rPr lang="ru-RU" sz="1400" dirty="0"/>
              <a:t>Необходимость учета колебания корпуса конструкции при расчете аэродинамических коэффициентов на каждом шаге интегрирования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99210405-4AF9-4029-81B7-7E0E100C2D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54" r="18463"/>
          <a:stretch/>
        </p:blipFill>
        <p:spPr bwMode="auto">
          <a:xfrm>
            <a:off x="6003637" y="2726366"/>
            <a:ext cx="2724728" cy="327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360CD05-E881-4F64-8172-39C9F1BE6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59" y="3011541"/>
            <a:ext cx="4948041" cy="2268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742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8A592D-6CD8-4A67-875F-0A690D832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7"/>
            <a:ext cx="7886700" cy="630755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СОСТОЯНИЕ ВОПРОСА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3843BE52-541D-430B-BC89-84774CA4A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979054"/>
            <a:ext cx="2169968" cy="3119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неопределенный">
            <a:extLst>
              <a:ext uri="{FF2B5EF4-FFF2-40B4-BE49-F238E27FC236}">
                <a16:creationId xmlns:a16="http://schemas.microsoft.com/office/drawing/2014/main" id="{41207147-D66B-4B60-825C-0827EA59A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6311" y="979054"/>
            <a:ext cx="2911559" cy="3114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6485B036-A0D4-470E-9DAD-1A2ED6F5B8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10" r="37188" b="888"/>
          <a:stretch/>
        </p:blipFill>
        <p:spPr bwMode="auto">
          <a:xfrm>
            <a:off x="3840018" y="979054"/>
            <a:ext cx="1463964" cy="3114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Объект 2">
            <a:extLst>
              <a:ext uri="{FF2B5EF4-FFF2-40B4-BE49-F238E27FC236}">
                <a16:creationId xmlns:a16="http://schemas.microsoft.com/office/drawing/2014/main" id="{6147B957-C501-400A-A555-DE36E822E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6512" y="4230954"/>
            <a:ext cx="1210975" cy="25307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ru-RU" sz="1400" dirty="0"/>
              <a:t>«Титан-3»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462AB81F-7F0D-42EF-A810-19ED638FCA9B}"/>
              </a:ext>
            </a:extLst>
          </p:cNvPr>
          <p:cNvSpPr txBox="1">
            <a:spLocks/>
          </p:cNvSpPr>
          <p:nvPr/>
        </p:nvSpPr>
        <p:spPr>
          <a:xfrm>
            <a:off x="6307931" y="4230954"/>
            <a:ext cx="1210975" cy="25307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sz="1400" dirty="0"/>
              <a:t>«</a:t>
            </a:r>
            <a:r>
              <a:rPr lang="en-US" sz="1400" dirty="0"/>
              <a:t>Callisto</a:t>
            </a:r>
            <a:r>
              <a:rPr lang="ru-RU" sz="1400" dirty="0"/>
              <a:t>»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4FDB1676-E676-40FC-9413-44FE1EA66FE4}"/>
              </a:ext>
            </a:extLst>
          </p:cNvPr>
          <p:cNvSpPr txBox="1">
            <a:spLocks/>
          </p:cNvSpPr>
          <p:nvPr/>
        </p:nvSpPr>
        <p:spPr>
          <a:xfrm>
            <a:off x="568613" y="4230954"/>
            <a:ext cx="2290041" cy="25307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ru-RU" sz="1400" dirty="0"/>
              <a:t>«Классические» справочники</a:t>
            </a:r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29CC0079-6568-4777-86E3-C29E9BC8C09D}"/>
              </a:ext>
            </a:extLst>
          </p:cNvPr>
          <p:cNvSpPr txBox="1">
            <a:spLocks/>
          </p:cNvSpPr>
          <p:nvPr/>
        </p:nvSpPr>
        <p:spPr>
          <a:xfrm>
            <a:off x="628650" y="5048045"/>
            <a:ext cx="8016587" cy="9744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dirty="0"/>
              <a:t>Как правило, для в качестве аэродинамических параметров берутся параметры ракеты-прототипа. Такие данные ограничены свойствами эталона и не учитывают колебательных эффектов. Существует необходимость в создании обновляемой базы данных, учитывающей данные эффекты.</a:t>
            </a:r>
          </a:p>
        </p:txBody>
      </p:sp>
    </p:spTree>
    <p:extLst>
      <p:ext uri="{BB962C8B-B14F-4D97-AF65-F5344CB8AC3E}">
        <p14:creationId xmlns:p14="http://schemas.microsoft.com/office/powerpoint/2010/main" val="16041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D11A67B6-6D3F-4F58-87A0-D9D784318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7"/>
            <a:ext cx="7886700" cy="630755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СОСТОЯНИЕ ВОПРОСА</a:t>
            </a:r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4061707C-BACE-4BC3-AA5B-9E94FEFEA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287" y="1118547"/>
            <a:ext cx="3204440" cy="3857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1FA36498-AB7A-4978-B41F-E5BA1DAD4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3090" y="1283011"/>
            <a:ext cx="4932219" cy="2478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Объект 4">
            <a:extLst>
              <a:ext uri="{FF2B5EF4-FFF2-40B4-BE49-F238E27FC236}">
                <a16:creationId xmlns:a16="http://schemas.microsoft.com/office/drawing/2014/main" id="{0D8C6D2B-7095-4FD8-B45B-BD9BD60606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3090" y="4000068"/>
            <a:ext cx="4932219" cy="22832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400" dirty="0">
                <a:latin typeface="+mj-lt"/>
              </a:rPr>
              <a:t>Активное использование статистических параметров, а также учет колебаний только на этапе динамических расчетов может создать расхождение с реальными данными, что может повлечь за собой ошибки предварительных расчетов.</a:t>
            </a:r>
          </a:p>
        </p:txBody>
      </p:sp>
    </p:spTree>
    <p:extLst>
      <p:ext uri="{BB962C8B-B14F-4D97-AF65-F5344CB8AC3E}">
        <p14:creationId xmlns:p14="http://schemas.microsoft.com/office/powerpoint/2010/main" val="2002660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109C62-45D8-44D5-BB2A-1CACA7BD7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58327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ОБЪЕКТЫ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C63B65-106A-4551-BE31-61DDA4E3C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7597" y="1046018"/>
            <a:ext cx="5168806" cy="5031654"/>
          </a:xfrm>
        </p:spPr>
        <p:txBody>
          <a:bodyPr>
            <a:normAutofit/>
          </a:bodyPr>
          <a:lstStyle/>
          <a:p>
            <a:pPr algn="ctr"/>
            <a:r>
              <a:rPr lang="ru-RU" sz="1800" dirty="0">
                <a:latin typeface="+mj-lt"/>
              </a:rPr>
              <a:t>Объектами исследования являются ракеты-носители различных классов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4E6FE84-4792-4697-ADEC-6CE7EB7DC25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044"/>
          <a:stretch/>
        </p:blipFill>
        <p:spPr>
          <a:xfrm>
            <a:off x="7816685" y="1046018"/>
            <a:ext cx="949053" cy="4567527"/>
          </a:xfrm>
          <a:prstGeom prst="rect">
            <a:avLst/>
          </a:prstGeom>
        </p:spPr>
      </p:pic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CA19F3F6-CECB-4129-9F5B-BC506D23D7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907" b="30532"/>
          <a:stretch/>
        </p:blipFill>
        <p:spPr bwMode="auto">
          <a:xfrm rot="16200000" flipV="1">
            <a:off x="321955" y="5022130"/>
            <a:ext cx="1082257" cy="100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Таблица 6">
            <a:extLst>
              <a:ext uri="{FF2B5EF4-FFF2-40B4-BE49-F238E27FC236}">
                <a16:creationId xmlns:a16="http://schemas.microsoft.com/office/drawing/2014/main" id="{C2D45760-9DDB-4A8A-8901-099619760E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1483872"/>
              </p:ext>
            </p:extLst>
          </p:nvPr>
        </p:nvGraphicFramePr>
        <p:xfrm>
          <a:off x="1307149" y="1794164"/>
          <a:ext cx="621679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2074">
                  <a:extLst>
                    <a:ext uri="{9D8B030D-6E8A-4147-A177-3AD203B41FA5}">
                      <a16:colId xmlns:a16="http://schemas.microsoft.com/office/drawing/2014/main" val="2562717497"/>
                    </a:ext>
                  </a:extLst>
                </a:gridCol>
                <a:gridCol w="4064717">
                  <a:extLst>
                    <a:ext uri="{9D8B030D-6E8A-4147-A177-3AD203B41FA5}">
                      <a16:colId xmlns:a16="http://schemas.microsoft.com/office/drawing/2014/main" val="3757391654"/>
                    </a:ext>
                  </a:extLst>
                </a:gridCol>
              </a:tblGrid>
              <a:tr h="570024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Виды ракет-носителей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Семейства ракет-носителей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129155"/>
                  </a:ext>
                </a:extLst>
              </a:tr>
              <a:tr h="337213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РН легкого класса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“Electron”, “Epsilon”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0258734"/>
                  </a:ext>
                </a:extLst>
              </a:tr>
              <a:tr h="337213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РН среднего класса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“</a:t>
                      </a:r>
                      <a:r>
                        <a:rPr lang="ru-RU" dirty="0"/>
                        <a:t>Союз</a:t>
                      </a:r>
                      <a:r>
                        <a:rPr lang="en-US" dirty="0"/>
                        <a:t>”</a:t>
                      </a:r>
                      <a:r>
                        <a:rPr lang="ru-RU" dirty="0"/>
                        <a:t>, </a:t>
                      </a:r>
                      <a:r>
                        <a:rPr lang="en-US" dirty="0"/>
                        <a:t>“Falcon”, “Long March”, “Ariane”, “Vulcan”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2508621"/>
                  </a:ext>
                </a:extLst>
              </a:tr>
              <a:tr h="5820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РН тяжелого класса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“</a:t>
                      </a:r>
                      <a:r>
                        <a:rPr lang="ru-RU" dirty="0"/>
                        <a:t>Протон</a:t>
                      </a:r>
                      <a:r>
                        <a:rPr lang="en-US" dirty="0"/>
                        <a:t>”</a:t>
                      </a:r>
                      <a:r>
                        <a:rPr lang="ru-RU" dirty="0"/>
                        <a:t>, </a:t>
                      </a:r>
                      <a:r>
                        <a:rPr lang="en-US" dirty="0"/>
                        <a:t>“</a:t>
                      </a:r>
                      <a:r>
                        <a:rPr lang="ru-RU" dirty="0"/>
                        <a:t>Ангара</a:t>
                      </a:r>
                      <a:r>
                        <a:rPr lang="en-US" dirty="0"/>
                        <a:t>”, “Falcon”, </a:t>
                      </a:r>
                      <a:endParaRPr lang="ru-RU" dirty="0"/>
                    </a:p>
                    <a:p>
                      <a:pPr algn="ctr"/>
                      <a:r>
                        <a:rPr lang="en-US" dirty="0"/>
                        <a:t>“Long March”, “Superheavy-Starship”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964193"/>
                  </a:ext>
                </a:extLst>
              </a:tr>
            </a:tbl>
          </a:graphicData>
        </a:graphic>
      </p:graphicFrame>
      <p:sp>
        <p:nvSpPr>
          <p:cNvPr id="8" name="Объект 2">
            <a:extLst>
              <a:ext uri="{FF2B5EF4-FFF2-40B4-BE49-F238E27FC236}">
                <a16:creationId xmlns:a16="http://schemas.microsoft.com/office/drawing/2014/main" id="{7FF2615C-FD78-4B6F-AC35-9AFE3CC10F15}"/>
              </a:ext>
            </a:extLst>
          </p:cNvPr>
          <p:cNvSpPr txBox="1">
            <a:spLocks/>
          </p:cNvSpPr>
          <p:nvPr/>
        </p:nvSpPr>
        <p:spPr>
          <a:xfrm>
            <a:off x="466361" y="5712763"/>
            <a:ext cx="840788" cy="1984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000" dirty="0">
                <a:latin typeface="+mj-lt"/>
              </a:rPr>
              <a:t>«</a:t>
            </a:r>
            <a:r>
              <a:rPr lang="en-US" sz="1000" dirty="0">
                <a:latin typeface="+mj-lt"/>
              </a:rPr>
              <a:t>Electron</a:t>
            </a:r>
            <a:r>
              <a:rPr lang="ru-RU" sz="1000" dirty="0">
                <a:latin typeface="+mj-lt"/>
              </a:rPr>
              <a:t>»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C526FC08-2F2A-4240-A627-2521C2CA3C55}"/>
              </a:ext>
            </a:extLst>
          </p:cNvPr>
          <p:cNvSpPr txBox="1">
            <a:spLocks/>
          </p:cNvSpPr>
          <p:nvPr/>
        </p:nvSpPr>
        <p:spPr>
          <a:xfrm>
            <a:off x="7676136" y="5712763"/>
            <a:ext cx="1230150" cy="198436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000" dirty="0">
                <a:latin typeface="+mj-lt"/>
              </a:rPr>
              <a:t>«</a:t>
            </a:r>
            <a:r>
              <a:rPr lang="en-US" sz="1000" dirty="0">
                <a:latin typeface="+mj-lt"/>
              </a:rPr>
              <a:t>Superheavy-Starship</a:t>
            </a:r>
            <a:r>
              <a:rPr lang="ru-RU" sz="1000" dirty="0">
                <a:latin typeface="+mj-lt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4218952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BFCB9ED-E80B-491B-A770-8BAE1907F80F}"/>
              </a:ext>
            </a:extLst>
          </p:cNvPr>
          <p:cNvPicPr/>
          <p:nvPr/>
        </p:nvPicPr>
        <p:blipFill rotWithShape="1">
          <a:blip r:embed="rId2"/>
          <a:srcRect l="1700" t="2367" r="1109" b="2663"/>
          <a:stretch/>
        </p:blipFill>
        <p:spPr bwMode="auto">
          <a:xfrm>
            <a:off x="2955636" y="2869325"/>
            <a:ext cx="5343190" cy="336521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53852D-C4ED-48BC-808D-6A5766372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ДВИЖЕНИЕ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065999CD-39A3-417F-96B5-40072CB5C6F9}"/>
                  </a:ext>
                </a:extLst>
              </p:cNvPr>
              <p:cNvSpPr/>
              <p:nvPr/>
            </p:nvSpPr>
            <p:spPr>
              <a:xfrm>
                <a:off x="3556619" y="1054572"/>
                <a:ext cx="4585189" cy="40092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ru-RU" sz="140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acc>
                              <m:accPr>
                                <m:chr m:val="̈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</m:e>
                            </m:acc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ϑϑ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ϑ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ϑδ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ru-RU" sz="1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ϑ</m:t>
                                    </m:r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ϑ</m:t>
                                    </m:r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  <m:sup>
                                    <m:sSup>
                                      <m:sSup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p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sup>
                                </m:sSubSup>
                              </m:e>
                            </m:d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e>
                        </m:mr>
                        <m:mr>
                          <m:e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acc>
                              <m:accPr>
                                <m:chr m:val="̈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ϑ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ru-RU" sz="1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  <m:sup>
                                    <m:sSup>
                                      <m:sSup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p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sup>
                                </m:sSubSup>
                              </m:e>
                            </m:d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ru-RU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ϑ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ru-RU" sz="140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eqArr>
                              <m:eqArr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(1+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̈"/>
                                            <m:ctrlPr>
                                              <a:rPr lang="ru-RU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𝑠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)+</m:t>
                                </m:r>
                                <m:f>
                                  <m:f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acc>
                                  <m:accPr>
                                    <m:chr m:val="̇"/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</m:e>
                              <m:e>
                                <m:r>
                                  <a:rPr lang="ru-RU" sz="1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Sup>
                                  <m:sSubSup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ϑ</m:t>
                                    </m:r>
                                  </m:sub>
                                  <m:sup>
                                    <m:sSup>
                                      <m:sSup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p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sup>
                                </m:sSubSup>
                                <m:d>
                                  <m:d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ϑ</m:t>
                                    </m:r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ru-RU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ru-RU" sz="1400">
                                                <a:latin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</m:acc>
                                        <m: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ru-RU" sz="1400">
                                                <a:latin typeface="Cambria Math" panose="02040503050406030204" pitchFamily="18" charset="0"/>
                                              </a:rPr>
                                              <m:t>W</m:t>
                                            </m:r>
                                          </m:e>
                                          <m:sub>
                                            <m:r>
                                              <a:rPr lang="ru-RU" sz="1400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</a:rPr>
                                          <m:t>δ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𝜗</m:t>
                                        </m:r>
                                      </m:sub>
                                    </m:sSub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𝜗</m:t>
                                    </m:r>
                                  </m:sub>
                                </m:s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</m:e>
                            </m:eqAr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̈"/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(1+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)+</m:t>
                            </m:r>
                            <m:f>
                              <m:f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𝜗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𝜗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̈"/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(1+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)+</m:t>
                            </m:r>
                            <m:f>
                              <m:f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𝜗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𝜗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̈"/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(1+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)+</m:t>
                            </m:r>
                            <m:f>
                              <m:f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𝜗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𝜗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̈"/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(1+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ru-RU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)+</m:t>
                            </m:r>
                            <m:f>
                              <m:f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140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ω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e>
                                  <m:sub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𝜗</m:t>
                                    </m:r>
                                  </m:sub>
                                </m:sSub>
                              </m:sub>
                            </m:sSub>
                            <m:sSub>
                              <m:sSubPr>
                                <m:ctrlPr>
                                  <a:rPr lang="ru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𝜗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065999CD-39A3-417F-96B5-40072CB5C6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619" y="1054572"/>
                <a:ext cx="4585189" cy="4009239"/>
              </a:xfrm>
              <a:prstGeom prst="rect">
                <a:avLst/>
              </a:prstGeom>
              <a:blipFill>
                <a:blip r:embed="rId3"/>
                <a:stretch>
                  <a:fillRect r="-19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utoShape 2">
            <a:extLst>
              <a:ext uri="{FF2B5EF4-FFF2-40B4-BE49-F238E27FC236}">
                <a16:creationId xmlns:a16="http://schemas.microsoft.com/office/drawing/2014/main" id="{D14E9EB9-6110-489A-BDCD-E2EA010769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Picture 2" descr="Схема">
            <a:extLst>
              <a:ext uri="{FF2B5EF4-FFF2-40B4-BE49-F238E27FC236}">
                <a16:creationId xmlns:a16="http://schemas.microsoft.com/office/drawing/2014/main" id="{B8CB951F-BBE5-4A30-AF84-9A7897362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43735"/>
            <a:ext cx="3032349" cy="4202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84772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E5F772D-9135-4A6E-AF47-ACAE2F474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КОЛЕБАНИЯ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9138C44-70E5-4E42-8667-FC651AB04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274" y="1071453"/>
            <a:ext cx="4429640" cy="188098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A901FC4-DC94-4C77-AEAA-820DB5A40D7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812145" y="3227181"/>
            <a:ext cx="4146550" cy="209434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9AA6BA6-C046-438F-AA51-E37423802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16" y="1079723"/>
            <a:ext cx="3943884" cy="4241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792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BEB0315-C9E9-45EC-BF0B-BF8CEBE0F50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8650" y="896363"/>
            <a:ext cx="3721677" cy="2604219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B8352379-B165-4A6D-A303-15CA6C91B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АЭРОДИНАМИКА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1FD18EC-A674-416C-B65B-843AB26A4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402" y="1044144"/>
            <a:ext cx="3721676" cy="224602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0C3594A-F00D-4E8F-90E7-BFC1B71C3B91}"/>
              </a:ext>
            </a:extLst>
          </p:cNvPr>
          <p:cNvPicPr/>
          <p:nvPr/>
        </p:nvPicPr>
        <p:blipFill rotWithShape="1">
          <a:blip r:embed="rId4"/>
          <a:srcRect t="10778" r="12857"/>
          <a:stretch/>
        </p:blipFill>
        <p:spPr>
          <a:xfrm rot="5400000">
            <a:off x="1541625" y="2587607"/>
            <a:ext cx="2246026" cy="407197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E04F22C-1AFE-4B4C-80E3-B9D444ACAF13}"/>
              </a:ext>
            </a:extLst>
          </p:cNvPr>
          <p:cNvPicPr/>
          <p:nvPr/>
        </p:nvPicPr>
        <p:blipFill rotWithShape="1">
          <a:blip r:embed="rId5"/>
          <a:srcRect l="2185" t="10250" r="10637"/>
          <a:stretch/>
        </p:blipFill>
        <p:spPr>
          <a:xfrm rot="5400000">
            <a:off x="5656520" y="3042361"/>
            <a:ext cx="1959070" cy="303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1387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2">
            <a:extLst>
              <a:ext uri="{FF2B5EF4-FFF2-40B4-BE49-F238E27FC236}">
                <a16:creationId xmlns:a16="http://schemas.microsoft.com/office/drawing/2014/main" id="{6BC6A435-1267-4DA1-A088-44DC72855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548" y="1073727"/>
            <a:ext cx="5627706" cy="2768600"/>
          </a:xfrm>
        </p:spPr>
        <p:txBody>
          <a:bodyPr>
            <a:normAutofit/>
          </a:bodyPr>
          <a:lstStyle/>
          <a:p>
            <a:pPr marL="571500" indent="-342900">
              <a:lnSpc>
                <a:spcPct val="150000"/>
              </a:lnSpc>
              <a:spcAft>
                <a:spcPts val="700"/>
              </a:spcAft>
              <a:buAutoNum type="arabicPeriod"/>
            </a:pP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Суммируется вклад всех мод</a:t>
            </a:r>
          </a:p>
          <a:p>
            <a:pPr marL="571500" indent="-342900">
              <a:lnSpc>
                <a:spcPct val="150000"/>
              </a:lnSpc>
              <a:spcAft>
                <a:spcPts val="700"/>
              </a:spcAft>
              <a:buAutoNum type="arabicPeriod"/>
            </a:pPr>
            <a:r>
              <a:rPr lang="ru-RU" sz="140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Находится локальный угол атаки</a:t>
            </a:r>
          </a:p>
          <a:p>
            <a:pPr marL="571500" indent="-342900">
              <a:lnSpc>
                <a:spcPct val="150000"/>
              </a:lnSpc>
              <a:spcAft>
                <a:spcPts val="700"/>
              </a:spcAft>
              <a:buAutoNum type="arabicPeriod"/>
            </a:pP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Находится локальный коэффициент усиления</a:t>
            </a:r>
          </a:p>
          <a:p>
            <a:pPr marL="571500" indent="-342900">
              <a:lnSpc>
                <a:spcPct val="150000"/>
              </a:lnSpc>
              <a:spcAft>
                <a:spcPts val="700"/>
              </a:spcAft>
              <a:buAutoNum type="arabicPeriod"/>
            </a:pP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Находим интегральные поправки к аэродинамическим коэффициентам</a:t>
            </a:r>
          </a:p>
          <a:p>
            <a:pPr marL="571500" indent="-342900">
              <a:lnSpc>
                <a:spcPct val="150000"/>
              </a:lnSpc>
              <a:spcAft>
                <a:spcPts val="700"/>
              </a:spcAft>
              <a:buAutoNum type="arabicPeriod"/>
            </a:pPr>
            <a:endParaRPr lang="ru-RU" sz="14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38C53E-3504-401F-BE8F-4AFEB20D5F2B}"/>
                  </a:ext>
                </a:extLst>
              </p:cNvPr>
              <p:cNvSpPr txBox="1"/>
              <p:nvPr/>
            </p:nvSpPr>
            <p:spPr>
              <a:xfrm>
                <a:off x="6262254" y="1073727"/>
                <a:ext cx="1341200" cy="3463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sz="11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sSub>
                            <m:sSub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ru-RU" sz="11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38C53E-3504-401F-BE8F-4AFEB20D5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2254" y="1073727"/>
                <a:ext cx="1341200" cy="346377"/>
              </a:xfrm>
              <a:prstGeom prst="rect">
                <a:avLst/>
              </a:prstGeom>
              <a:blipFill>
                <a:blip r:embed="rId2"/>
                <a:stretch>
                  <a:fillRect l="-1818" t="-178947" r="-31364" b="-2631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EFD4C6A-9D18-4F4E-B591-8AA4C85B7E63}"/>
                  </a:ext>
                </a:extLst>
              </p:cNvPr>
              <p:cNvSpPr txBox="1"/>
              <p:nvPr/>
            </p:nvSpPr>
            <p:spPr>
              <a:xfrm>
                <a:off x="6262254" y="1663024"/>
                <a:ext cx="1572417" cy="3463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1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𝑑𝑤</m:t>
                          </m:r>
                        </m:num>
                        <m:den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f>
                            <m:f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∅</m:t>
                                  </m:r>
                                </m:e>
                                <m:sub>
                                  <m:r>
                                    <a:rPr lang="en-US" sz="11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𝑑𝑥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ru-RU" sz="11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EFD4C6A-9D18-4F4E-B591-8AA4C85B7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2254" y="1663024"/>
                <a:ext cx="1572417" cy="346377"/>
              </a:xfrm>
              <a:prstGeom prst="rect">
                <a:avLst/>
              </a:prstGeom>
              <a:blipFill>
                <a:blip r:embed="rId3"/>
                <a:stretch>
                  <a:fillRect l="-1550" t="-180702" r="-39535" b="-26140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E7626B-6678-489C-AE4A-237044926647}"/>
                  </a:ext>
                </a:extLst>
              </p:cNvPr>
              <p:cNvSpPr txBox="1"/>
              <p:nvPr/>
            </p:nvSpPr>
            <p:spPr>
              <a:xfrm>
                <a:off x="6262254" y="2288750"/>
                <a:ext cx="2254913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1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=1+</m:t>
                      </m:r>
                      <m:sSub>
                        <m:sSubPr>
                          <m:ctrlP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1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ru-RU" sz="11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E7626B-6678-489C-AE4A-237044926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2254" y="2288750"/>
                <a:ext cx="2254913" cy="169277"/>
              </a:xfrm>
              <a:prstGeom prst="rect">
                <a:avLst/>
              </a:prstGeom>
              <a:blipFill>
                <a:blip r:embed="rId4"/>
                <a:stretch>
                  <a:fillRect l="-811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1D1AE0-6AE3-4527-8487-B0BCBE69C1F7}"/>
                  </a:ext>
                </a:extLst>
              </p:cNvPr>
              <p:cNvSpPr txBox="1"/>
              <p:nvPr/>
            </p:nvSpPr>
            <p:spPr>
              <a:xfrm>
                <a:off x="6262254" y="2855744"/>
                <a:ext cx="1744645" cy="2417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ru-RU" sz="11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sz="11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1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sz="11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d>
                          <m:dPr>
                            <m:ctrlP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d>
                          <m:dPr>
                            <m:ctrlP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1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  <m:d>
                              <m:dPr>
                                <m:ctrlPr>
                                  <a:rPr lang="en-US" sz="11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1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</m:oMath>
                </a14:m>
                <a:endParaRPr lang="ru-RU" sz="11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1D1AE0-6AE3-4527-8487-B0BCBE69C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2254" y="2855744"/>
                <a:ext cx="1744645" cy="241733"/>
              </a:xfrm>
              <a:prstGeom prst="rect">
                <a:avLst/>
              </a:prstGeom>
              <a:blipFill>
                <a:blip r:embed="rId5"/>
                <a:stretch>
                  <a:fillRect l="-2797" t="-132500" r="-1748" b="-207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7B6022-5D28-44BE-9D2B-E175E4FAB3DE}"/>
                  </a:ext>
                </a:extLst>
              </p:cNvPr>
              <p:cNvSpPr txBox="1"/>
              <p:nvPr/>
            </p:nvSpPr>
            <p:spPr>
              <a:xfrm>
                <a:off x="6262254" y="3211128"/>
                <a:ext cx="1783630" cy="2417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Sup>
                      <m:sSubSupPr>
                        <m:ctrlPr>
                          <a:rPr lang="ru-RU" sz="11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  <m:sup>
                        <m:r>
                          <a:rPr lang="en-US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sup>
                    </m:sSubSup>
                  </m:oMath>
                </a14:m>
                <a:r>
                  <a:rPr lang="en-US" sz="11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1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Sup>
                          <m:sSubSupPr>
                            <m:ctrlPr>
                              <a:rPr lang="ru-RU" sz="11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sz="11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p>
                        </m:sSubSup>
                        <m:d>
                          <m:dPr>
                            <m:ctrlP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d>
                          <m:dPr>
                            <m:ctrlP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1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  <m:d>
                              <m:dPr>
                                <m:ctrlPr>
                                  <a:rPr lang="en-US" sz="11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1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sz="11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</m:oMath>
                </a14:m>
                <a:endParaRPr lang="ru-RU" sz="11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7B6022-5D28-44BE-9D2B-E175E4FAB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2254" y="3211128"/>
                <a:ext cx="1783630" cy="241733"/>
              </a:xfrm>
              <a:prstGeom prst="rect">
                <a:avLst/>
              </a:prstGeom>
              <a:blipFill>
                <a:blip r:embed="rId6"/>
                <a:stretch>
                  <a:fillRect l="-2730" t="-138462" r="-1365" b="-212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44FC3D07-F12F-48DE-AA68-BC892DE66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МАТЕМАТИЧЕСКАЯ МОДЕЛЬ. АЭРОУПРУГОСТЬ</a:t>
            </a:r>
          </a:p>
        </p:txBody>
      </p:sp>
    </p:spTree>
    <p:extLst>
      <p:ext uri="{BB962C8B-B14F-4D97-AF65-F5344CB8AC3E}">
        <p14:creationId xmlns:p14="http://schemas.microsoft.com/office/powerpoint/2010/main" val="2669326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024044-0F10-4DEF-88CA-508519B25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1218"/>
            <a:ext cx="7886700" cy="585488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АНАЛИЗ ВЛИЯНИЯ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4A95979-C25F-4239-A524-B111BA4E6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692" y="999728"/>
            <a:ext cx="7088616" cy="4858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3970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B23510-D511-4650-A53F-CBBDB343B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56485"/>
            <a:ext cx="7886700" cy="594541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ПРИМЕНЕНИЕ РЕЗУЛЬТАТОВ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682E9F-F909-49A3-A3D0-A5B1B4C402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79055"/>
            <a:ext cx="7886700" cy="5197908"/>
          </a:xfrm>
        </p:spPr>
        <p:txBody>
          <a:bodyPr>
            <a:normAutofit/>
          </a:bodyPr>
          <a:lstStyle/>
          <a:p>
            <a:pPr indent="0" algn="just">
              <a:lnSpc>
                <a:spcPct val="150000"/>
              </a:lnSpc>
              <a:spcAft>
                <a:spcPts val="700"/>
              </a:spcAft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	Результаты данной работы призваны помочь при проектировании отечественных многоразовых ракетных систем, снижая затраты на разработку и повышая безопасность возвращения.</a:t>
            </a:r>
            <a:r>
              <a:rPr lang="ru-RU" sz="14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Разрабатываемая методика должна войти в основу информационной базы по данной теме, а сделанные выводы отправной точкой для дальнейших исследований.</a:t>
            </a:r>
            <a:endParaRPr lang="ru-RU" sz="14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495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F7B7EE-E322-4B69-B969-7CDD93E68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869133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СТАТУС РАБОТ ПО ТЕМЕ</a:t>
            </a: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AF618231-E164-4627-A88A-555ADAAEA8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973413"/>
              </p:ext>
            </p:extLst>
          </p:nvPr>
        </p:nvGraphicFramePr>
        <p:xfrm>
          <a:off x="628650" y="1397000"/>
          <a:ext cx="8080784" cy="4302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0392">
                  <a:extLst>
                    <a:ext uri="{9D8B030D-6E8A-4147-A177-3AD203B41FA5}">
                      <a16:colId xmlns:a16="http://schemas.microsoft.com/office/drawing/2014/main" val="1220497466"/>
                    </a:ext>
                  </a:extLst>
                </a:gridCol>
                <a:gridCol w="4040392">
                  <a:extLst>
                    <a:ext uri="{9D8B030D-6E8A-4147-A177-3AD203B41FA5}">
                      <a16:colId xmlns:a16="http://schemas.microsoft.com/office/drawing/2014/main" val="20243546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Выполнено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Запланировано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26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1) Создана расчетная модель для оценки колебательных и аэродинамических параметров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1) Сравнительный анализ результатов аналитического расчета и моделирования в </a:t>
                      </a:r>
                      <a:r>
                        <a:rPr lang="en-US" dirty="0"/>
                        <a:t>Femap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44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2) Определен формат и воссоздана база данных ракет-носителей и их параметров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2) </a:t>
                      </a:r>
                      <a:r>
                        <a:rPr lang="ru-RU" dirty="0"/>
                        <a:t>Создание рабочего ИИ-алгоритма для уточнения статистики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9702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3) Создан программный комплекс для моделирования динамики возмущенного движения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3) Применение расчетной модели на ракетах-носителях с возвращаемыми частями и космических кораблях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42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4) Создан прототип ИИ-модели для обновления статистических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4) Формулирование математической модели новой методики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01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1157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1B88BBE-1CA0-458A-953E-1EE3CB1F2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869133"/>
          </a:xfrm>
        </p:spPr>
        <p:txBody>
          <a:bodyPr>
            <a:norm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</a:rPr>
              <a:t>СТАТУС РАБОТ ПО ТЕМЕ</a:t>
            </a:r>
          </a:p>
        </p:txBody>
      </p:sp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9D00BDDF-6710-46B2-BC97-0702505E35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75121"/>
              </p:ext>
            </p:extLst>
          </p:nvPr>
        </p:nvGraphicFramePr>
        <p:xfrm>
          <a:off x="628651" y="1240325"/>
          <a:ext cx="8053532" cy="5091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511">
                  <a:extLst>
                    <a:ext uri="{9D8B030D-6E8A-4147-A177-3AD203B41FA5}">
                      <a16:colId xmlns:a16="http://schemas.microsoft.com/office/drawing/2014/main" val="4136704084"/>
                    </a:ext>
                  </a:extLst>
                </a:gridCol>
                <a:gridCol w="2653529">
                  <a:extLst>
                    <a:ext uri="{9D8B030D-6E8A-4147-A177-3AD203B41FA5}">
                      <a16:colId xmlns:a16="http://schemas.microsoft.com/office/drawing/2014/main" val="4256667896"/>
                    </a:ext>
                  </a:extLst>
                </a:gridCol>
                <a:gridCol w="2715492">
                  <a:extLst>
                    <a:ext uri="{9D8B030D-6E8A-4147-A177-3AD203B41FA5}">
                      <a16:colId xmlns:a16="http://schemas.microsoft.com/office/drawing/2014/main" val="3260174549"/>
                    </a:ext>
                  </a:extLst>
                </a:gridCol>
              </a:tblGrid>
              <a:tr h="354272">
                <a:tc gridSpan="2">
                  <a:txBody>
                    <a:bodyPr/>
                    <a:lstStyle/>
                    <a:p>
                      <a:pPr algn="ctr"/>
                      <a:r>
                        <a:rPr lang="ru-RU" dirty="0"/>
                        <a:t>Опубликованы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 работе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229510"/>
                  </a:ext>
                </a:extLst>
              </a:tr>
              <a:tr h="3125876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187253"/>
                  </a:ext>
                </a:extLst>
              </a:tr>
              <a:tr h="1384763">
                <a:tc>
                  <a:txBody>
                    <a:bodyPr/>
                    <a:lstStyle/>
                    <a:p>
                      <a:r>
                        <a:rPr lang="ru-RU" sz="1100" dirty="0"/>
                        <a:t>Сметана В.В., Давыдов И.Е., </a:t>
                      </a:r>
                    </a:p>
                    <a:p>
                      <a:r>
                        <a:rPr lang="ru-RU" sz="1100" dirty="0"/>
                        <a:t>Лазарев А.А. Исследование динамики возмущенного движения многоразового упругого блока ракеты-носителя на участке посадки // Инженерный журнал: наука и инновации. — 2024. — № 9 (153).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Сметана В.В., Давыдов И.Е., </a:t>
                      </a:r>
                    </a:p>
                    <a:p>
                      <a:r>
                        <a:rPr lang="ru-RU" sz="1100" dirty="0"/>
                        <a:t>Глушков С.В. Расчёт аэродинамических характеристик возвращаемого блока ракеты-носителя типа «Союз-2-1а» при моделировании его возмущенного движения // Космические аппараты и технологии. 2025. Т. 9. № 4. С. 226-239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i="0" dirty="0">
                          <a:latin typeface="+mn-lt"/>
                        </a:rPr>
                        <a:t>Сметана В.В., Давыдов И.Е. </a:t>
                      </a:r>
                      <a:r>
                        <a:rPr lang="ru-RU" sz="110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Анализ колебательных параметров ракет-носителей с учетом аэроупругости, 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361306"/>
                  </a:ext>
                </a:extLst>
              </a:tr>
            </a:tbl>
          </a:graphicData>
        </a:graphic>
      </p:graphicFrame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F70C3CBD-2437-48FC-90AD-3702BA91584A}"/>
              </a:ext>
            </a:extLst>
          </p:cNvPr>
          <p:cNvSpPr txBox="1">
            <a:spLocks/>
          </p:cNvSpPr>
          <p:nvPr/>
        </p:nvSpPr>
        <p:spPr>
          <a:xfrm>
            <a:off x="628650" y="857397"/>
            <a:ext cx="7886700" cy="3829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/>
              <a:t>Статьи уровня ВАК: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00A8255-3ADF-46BA-A939-CBD45E649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518" y="1726530"/>
            <a:ext cx="1995993" cy="283815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F324F3-8FAE-4FA7-BB25-0BDC2CE943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328" y="1726530"/>
            <a:ext cx="1922065" cy="283815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9402C5F-B181-45B1-B956-F57677E99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4799" y="1711868"/>
            <a:ext cx="2129713" cy="286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213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836692" y="634523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Elektra Medium Pro" panose="02000803000000020004" pitchFamily="50" charset="-52"/>
              </a:rPr>
              <a:t>10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46527" y="2613392"/>
            <a:ext cx="3831772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Elektra Text Pro" panose="02000503030000020004" pitchFamily="50" charset="-52"/>
              </a:rPr>
              <a:t>СПАСИБО </a:t>
            </a:r>
          </a:p>
          <a:p>
            <a:pPr algn="ctr"/>
            <a:r>
              <a:rPr lang="ru-RU" sz="2400" b="1" dirty="0">
                <a:solidFill>
                  <a:schemeClr val="bg1"/>
                </a:solidFill>
                <a:latin typeface="Elektra Text Pro" panose="02000503030000020004" pitchFamily="50" charset="-52"/>
              </a:rPr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74156173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/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EY_regular_presentation_2007">
  <a:themeElements>
    <a:clrScheme name="Custom 1">
      <a:dk1>
        <a:srgbClr val="000000"/>
      </a:dk1>
      <a:lt1>
        <a:srgbClr val="808080"/>
      </a:lt1>
      <a:dk2>
        <a:srgbClr val="FFFFFF"/>
      </a:dk2>
      <a:lt2>
        <a:srgbClr val="808080"/>
      </a:lt2>
      <a:accent1>
        <a:srgbClr val="808080"/>
      </a:accent1>
      <a:accent2>
        <a:srgbClr val="FFE600"/>
      </a:accent2>
      <a:accent3>
        <a:srgbClr val="999999"/>
      </a:accent3>
      <a:accent4>
        <a:srgbClr val="F0F0F0"/>
      </a:accent4>
      <a:accent5>
        <a:srgbClr val="00A3AE"/>
      </a:accent5>
      <a:accent6>
        <a:srgbClr val="C0C0C0"/>
      </a:accent6>
      <a:hlink>
        <a:srgbClr val="336699"/>
      </a:hlink>
      <a:folHlink>
        <a:srgbClr val="91278F"/>
      </a:folHlink>
    </a:clrScheme>
    <a:fontScheme name="EY_Hand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9525">
          <a:solidFill>
            <a:schemeClr val="accent1"/>
          </a:solidFill>
        </a:ln>
      </a:spPr>
      <a:bodyPr rtlCol="0" anchor="t" anchorCtr="0"/>
      <a:lstStyle>
        <a:defPPr algn="ctr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36576" rIns="0" bIns="0" rtlCol="0">
        <a:spAutoFit/>
      </a:bodyPr>
      <a:lstStyle>
        <a:defPPr marL="285750" indent="-285750">
          <a:lnSpc>
            <a:spcPct val="85000"/>
          </a:lnSpc>
          <a:spcAft>
            <a:spcPts val="600"/>
          </a:spcAft>
          <a:buClr>
            <a:schemeClr val="accent2"/>
          </a:buClr>
          <a:buSzPct val="70000"/>
          <a:buFont typeface="Arial" pitchFamily="34" charset="0"/>
          <a:buChar char="►"/>
          <a:defRPr sz="1200" dirty="0" smtClean="0"/>
        </a:defPPr>
      </a:lstStyle>
    </a:txDef>
  </a:objectDefaults>
  <a:extraClrSchemeLst/>
  <a:custClrLst>
    <a:custClr name="EY Special Use Red">
      <a:srgbClr val="F04C3E"/>
    </a:custClr>
    <a:custClr name="EY Special Use Blue 50%">
      <a:srgbClr val="7FD1D6"/>
    </a:custClr>
    <a:custClr name="EY Special Use Purple">
      <a:srgbClr val="91278F"/>
    </a:custClr>
    <a:custClr name="EY Special Use Purple 50%">
      <a:srgbClr val="C893C7"/>
    </a:custClr>
    <a:custClr name="EY Special Use Green">
      <a:srgbClr val="2C973E"/>
    </a:custClr>
    <a:custClr name="EY Special Use Green 50%">
      <a:srgbClr val="95CB89"/>
    </a:custClr>
    <a:custClr name="EY Yellow 50%">
      <a:srgbClr val="FFF27F"/>
    </a:custClr>
    <a:custClr name="EY Special Use Lilac">
      <a:srgbClr val="AC98DB"/>
    </a:custClr>
    <a:custClr name="EY Special Use Lilac 50%">
      <a:srgbClr val="D8D2E0"/>
    </a:custClr>
    <a:custClr name="EY Link Blue">
      <a:srgbClr val="336699"/>
    </a:custClr>
  </a:custClr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13076</TotalTime>
  <Words>624</Words>
  <Application>Microsoft Office PowerPoint</Application>
  <PresentationFormat>Экран (4:3)</PresentationFormat>
  <Paragraphs>89</Paragraphs>
  <Slides>15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4" baseType="lpstr">
      <vt:lpstr>Arial</vt:lpstr>
      <vt:lpstr>Calibri</vt:lpstr>
      <vt:lpstr>Cambria Math</vt:lpstr>
      <vt:lpstr>Elektra Medium Pro</vt:lpstr>
      <vt:lpstr>Elektra Text Pro</vt:lpstr>
      <vt:lpstr>Times New Roman</vt:lpstr>
      <vt:lpstr>Тема Office</vt:lpstr>
      <vt:lpstr>EY_regular_presentation_2007</vt:lpstr>
      <vt:lpstr>think-cell Slide</vt:lpstr>
      <vt:lpstr>Презентация PowerPoint</vt:lpstr>
      <vt:lpstr>ТЕМАТИКА ИССЛЕДОВАНИЯ</vt:lpstr>
      <vt:lpstr>ПРОБЛЕМАТИКА ИССЛЕДОВАНИЯ</vt:lpstr>
      <vt:lpstr>СОСТОЯНИЕ ВОПРОСА</vt:lpstr>
      <vt:lpstr>СОСТОЯНИЕ ВОПРОСА</vt:lpstr>
      <vt:lpstr>ОБЪЕКТЫ ИССЛЕДОВАНИЯ</vt:lpstr>
      <vt:lpstr>МАТЕМАТИЧЕСКАЯ МОДЕЛЬ. ДВИЖЕНИЕ</vt:lpstr>
      <vt:lpstr>МАТЕМАТИЧЕСКАЯ МОДЕЛЬ. КОЛЕБАНИЯ</vt:lpstr>
      <vt:lpstr>МАТЕМАТИЧЕСКАЯ МОДЕЛЬ. АЭРОДИНАМИКА</vt:lpstr>
      <vt:lpstr>МАТЕМАТИЧЕСКАЯ МОДЕЛЬ. АЭРОУПРУГОСТЬ</vt:lpstr>
      <vt:lpstr>АНАЛИЗ ВЛИЯНИЯ</vt:lpstr>
      <vt:lpstr>ПРИМЕНЕНИЕ РЕЗУЛЬТАТОВ ИССЛЕДОВАНИЯ</vt:lpstr>
      <vt:lpstr>СТАТУС РАБОТ ПО ТЕМЕ</vt:lpstr>
      <vt:lpstr>СТАТУС РАБОТ ПО ТЕМЕ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Vladimir Smetana</cp:lastModifiedBy>
  <cp:revision>719</cp:revision>
  <cp:lastPrinted>2019-02-06T10:25:42Z</cp:lastPrinted>
  <dcterms:created xsi:type="dcterms:W3CDTF">2016-03-09T10:31:39Z</dcterms:created>
  <dcterms:modified xsi:type="dcterms:W3CDTF">2026-02-27T12:50:07Z</dcterms:modified>
</cp:coreProperties>
</file>