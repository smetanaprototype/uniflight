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3"/>
  </p:notesMasterIdLst>
  <p:handoutMasterIdLst>
    <p:handoutMasterId r:id="rId24"/>
  </p:handoutMasterIdLst>
  <p:sldIdLst>
    <p:sldId id="465" r:id="rId3"/>
    <p:sldId id="566" r:id="rId4"/>
    <p:sldId id="559" r:id="rId5"/>
    <p:sldId id="560" r:id="rId6"/>
    <p:sldId id="565" r:id="rId7"/>
    <p:sldId id="576" r:id="rId8"/>
    <p:sldId id="562" r:id="rId9"/>
    <p:sldId id="568" r:id="rId10"/>
    <p:sldId id="574" r:id="rId11"/>
    <p:sldId id="577" r:id="rId12"/>
    <p:sldId id="579" r:id="rId13"/>
    <p:sldId id="573" r:id="rId14"/>
    <p:sldId id="571" r:id="rId15"/>
    <p:sldId id="273" r:id="rId16"/>
    <p:sldId id="561" r:id="rId17"/>
    <p:sldId id="558" r:id="rId18"/>
    <p:sldId id="564" r:id="rId19"/>
    <p:sldId id="580" r:id="rId20"/>
    <p:sldId id="563" r:id="rId21"/>
    <p:sldId id="470" r:id="rId22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FF9933"/>
    <a:srgbClr val="D4DEFF"/>
    <a:srgbClr val="96AB94"/>
    <a:srgbClr val="008080"/>
    <a:srgbClr val="9C9C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92" autoAdjust="0"/>
    <p:restoredTop sz="92806" autoAdjust="0"/>
  </p:normalViewPr>
  <p:slideViewPr>
    <p:cSldViewPr snapToGrid="0">
      <p:cViewPr varScale="1">
        <p:scale>
          <a:sx n="104" d="100"/>
          <a:sy n="104" d="100"/>
        </p:scale>
        <p:origin x="142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19454" cy="495196"/>
          </a:xfrm>
          <a:prstGeom prst="rect">
            <a:avLst/>
          </a:prstGeom>
        </p:spPr>
        <p:txBody>
          <a:bodyPr vert="horz" lIns="90028" tIns="45014" rIns="90028" bIns="45014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54" y="1"/>
            <a:ext cx="2919454" cy="495196"/>
          </a:xfrm>
          <a:prstGeom prst="rect">
            <a:avLst/>
          </a:prstGeom>
        </p:spPr>
        <p:txBody>
          <a:bodyPr vert="horz" lIns="90028" tIns="45014" rIns="90028" bIns="45014" rtlCol="0"/>
          <a:lstStyle>
            <a:lvl1pPr algn="r">
              <a:defRPr sz="1200"/>
            </a:lvl1pPr>
          </a:lstStyle>
          <a:p>
            <a:fld id="{82AF5981-886A-4F9A-B32B-CA52763BD825}" type="datetimeFigureOut">
              <a:rPr lang="ru-RU" smtClean="0"/>
              <a:pPr/>
              <a:t>24.06.2026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2" y="9371118"/>
            <a:ext cx="2919454" cy="495196"/>
          </a:xfrm>
          <a:prstGeom prst="rect">
            <a:avLst/>
          </a:prstGeom>
        </p:spPr>
        <p:txBody>
          <a:bodyPr vert="horz" lIns="90028" tIns="45014" rIns="90028" bIns="45014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54" y="9371118"/>
            <a:ext cx="2919454" cy="495196"/>
          </a:xfrm>
          <a:prstGeom prst="rect">
            <a:avLst/>
          </a:prstGeom>
        </p:spPr>
        <p:txBody>
          <a:bodyPr vert="horz" lIns="90028" tIns="45014" rIns="90028" bIns="45014" rtlCol="0" anchor="b"/>
          <a:lstStyle>
            <a:lvl1pPr algn="r">
              <a:defRPr sz="1200"/>
            </a:lvl1pPr>
          </a:lstStyle>
          <a:p>
            <a:fld id="{588AE88D-C0A5-4D31-BE30-C511186F55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0121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18831" cy="493316"/>
          </a:xfrm>
          <a:prstGeom prst="rect">
            <a:avLst/>
          </a:prstGeom>
        </p:spPr>
        <p:txBody>
          <a:bodyPr vert="horz" lIns="94863" tIns="47431" rIns="94863" bIns="47431" rtlCol="0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1"/>
            <a:ext cx="2918831" cy="493316"/>
          </a:xfrm>
          <a:prstGeom prst="rect">
            <a:avLst/>
          </a:prstGeom>
        </p:spPr>
        <p:txBody>
          <a:bodyPr vert="horz" lIns="94863" tIns="47431" rIns="94863" bIns="47431" rtlCol="0"/>
          <a:lstStyle>
            <a:lvl1pPr algn="r">
              <a:defRPr sz="1300"/>
            </a:lvl1pPr>
          </a:lstStyle>
          <a:p>
            <a:fld id="{77D36C68-DDAB-4D09-8E72-8E937BD7768C}" type="datetimeFigureOut">
              <a:rPr lang="ru-RU" smtClean="0"/>
              <a:pPr/>
              <a:t>24.06.2026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5537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63" tIns="47431" rIns="94863" bIns="47431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501"/>
            <a:ext cx="5388610" cy="4439841"/>
          </a:xfrm>
          <a:prstGeom prst="rect">
            <a:avLst/>
          </a:prstGeom>
        </p:spPr>
        <p:txBody>
          <a:bodyPr vert="horz" lIns="94863" tIns="47431" rIns="94863" bIns="47431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3316"/>
          </a:xfrm>
          <a:prstGeom prst="rect">
            <a:avLst/>
          </a:prstGeom>
        </p:spPr>
        <p:txBody>
          <a:bodyPr vert="horz" lIns="94863" tIns="47431" rIns="94863" bIns="47431" rtlCol="0" anchor="b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3316"/>
          </a:xfrm>
          <a:prstGeom prst="rect">
            <a:avLst/>
          </a:prstGeom>
        </p:spPr>
        <p:txBody>
          <a:bodyPr vert="horz" lIns="94863" tIns="47431" rIns="94863" bIns="47431" rtlCol="0" anchor="b"/>
          <a:lstStyle>
            <a:lvl1pPr algn="r">
              <a:defRPr sz="1300"/>
            </a:lvl1pPr>
          </a:lstStyle>
          <a:p>
            <a:fld id="{0048289E-2F4B-4BDB-9E3D-307BE649A8B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5794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095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423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0367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318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B388D-069F-4B10-B5C6-708258CCC995}" type="datetime1">
              <a:rPr lang="ru-RU" smtClean="0"/>
              <a:pPr/>
              <a:t>24.06.2026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282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CAF35-E817-4E01-A40C-B51EFC6BC3B2}" type="datetime1">
              <a:rPr lang="ru-RU" smtClean="0"/>
              <a:pPr/>
              <a:t>24.06.2026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30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A0A9-DFFF-4AF3-9EA8-86E56B98BCAC}" type="datetime1">
              <a:rPr lang="ru-RU" smtClean="0"/>
              <a:pPr/>
              <a:t>24.06.2026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392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62D2F-A701-42A8-A352-1EDB7091594D}" type="datetime1">
              <a:rPr lang="ru-RU" smtClean="0"/>
              <a:pPr/>
              <a:t>24.06.2026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770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346D3-D25C-4012-9373-E949EA6EA283}" type="datetime1">
              <a:rPr lang="ru-RU" smtClean="0"/>
              <a:pPr/>
              <a:t>24.06.2026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91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9E12-F3FD-435A-8936-974942BF07BD}" type="datetime1">
              <a:rPr lang="ru-RU" smtClean="0"/>
              <a:pPr/>
              <a:t>24.06.2026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72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2B17-CB9C-4258-96C2-A6BFF00643A8}" type="datetime1">
              <a:rPr lang="ru-RU" smtClean="0"/>
              <a:pPr/>
              <a:t>24.06.2026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73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7377-4976-467E-B8ED-99A6D7DF965B}" type="datetime1">
              <a:rPr lang="ru-RU" smtClean="0"/>
              <a:pPr/>
              <a:t>24.06.2026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5095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3F8BB-397E-4991-BA0B-220B5965CF9E}" type="datetime1">
              <a:rPr lang="ru-RU" smtClean="0"/>
              <a:pPr/>
              <a:t>24.06.2026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5277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AA10-EAD2-4B75-BFB4-B3744E7377CE}" type="datetime1">
              <a:rPr lang="ru-RU" smtClean="0"/>
              <a:pPr/>
              <a:t>24.06.2026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79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6C28-0264-411A-B087-999E218B5FBC}" type="datetime1">
              <a:rPr lang="ru-RU" smtClean="0"/>
              <a:pPr/>
              <a:t>24.06.2026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15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"/>
          <a:stretch/>
        </p:blipFill>
        <p:spPr>
          <a:xfrm>
            <a:off x="1" y="6286500"/>
            <a:ext cx="1684066" cy="571500"/>
          </a:xfrm>
          <a:prstGeom prst="rect">
            <a:avLst/>
          </a:prstGeom>
        </p:spPr>
      </p:pic>
      <p:cxnSp>
        <p:nvCxnSpPr>
          <p:cNvPr id="15" name="Прямая соединительная линия 11"/>
          <p:cNvCxnSpPr/>
          <p:nvPr userDrawn="1"/>
        </p:nvCxnSpPr>
        <p:spPr>
          <a:xfrm>
            <a:off x="1661842" y="6714806"/>
            <a:ext cx="7450408" cy="0"/>
          </a:xfrm>
          <a:prstGeom prst="line">
            <a:avLst/>
          </a:prstGeom>
          <a:noFill/>
          <a:ln w="285750" cap="flat" cmpd="sng" algn="ctr">
            <a:gradFill flip="none" rotWithShape="1">
              <a:gsLst>
                <a:gs pos="91803">
                  <a:srgbClr val="5B9BD5">
                    <a:lumMod val="5000"/>
                    <a:lumOff val="95000"/>
                  </a:srgbClr>
                </a:gs>
                <a:gs pos="72000">
                  <a:sysClr val="window" lastClr="FFFFFF"/>
                </a:gs>
                <a:gs pos="0">
                  <a:srgbClr val="6580BB"/>
                </a:gs>
                <a:gs pos="21000">
                  <a:srgbClr val="44546A">
                    <a:lumMod val="60000"/>
                    <a:lumOff val="40000"/>
                  </a:srgbClr>
                </a:gs>
                <a:gs pos="0">
                  <a:srgbClr val="7994DF"/>
                </a:gs>
                <a:gs pos="0">
                  <a:srgbClr val="7F9CBB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16" name="Прямая соединительная линия 24"/>
          <p:cNvCxnSpPr/>
          <p:nvPr userDrawn="1"/>
        </p:nvCxnSpPr>
        <p:spPr>
          <a:xfrm flipV="1">
            <a:off x="252599" y="0"/>
            <a:ext cx="0" cy="6309892"/>
          </a:xfrm>
          <a:prstGeom prst="line">
            <a:avLst/>
          </a:prstGeom>
          <a:noFill/>
          <a:ln w="508000" cap="flat" cmpd="sng" algn="ctr">
            <a:gradFill flip="none" rotWithShape="1">
              <a:gsLst>
                <a:gs pos="84000">
                  <a:srgbClr val="5B9BD5">
                    <a:lumMod val="5000"/>
                    <a:lumOff val="95000"/>
                  </a:srgbClr>
                </a:gs>
                <a:gs pos="0">
                  <a:srgbClr val="6580BB"/>
                </a:gs>
                <a:gs pos="21000">
                  <a:srgbClr val="44546A">
                    <a:lumMod val="60000"/>
                    <a:lumOff val="40000"/>
                  </a:srgbClr>
                </a:gs>
                <a:gs pos="0">
                  <a:srgbClr val="7994DF"/>
                </a:gs>
                <a:gs pos="0">
                  <a:srgbClr val="7F9CBB"/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17" name="Прямая соединительная линия 26"/>
          <p:cNvCxnSpPr/>
          <p:nvPr userDrawn="1"/>
        </p:nvCxnSpPr>
        <p:spPr>
          <a:xfrm flipH="1" flipV="1">
            <a:off x="98478" y="2"/>
            <a:ext cx="18460" cy="6597548"/>
          </a:xfrm>
          <a:prstGeom prst="line">
            <a:avLst/>
          </a:prstGeom>
          <a:noFill/>
          <a:ln w="63500" cap="flat" cmpd="sng" algn="ctr">
            <a:gradFill>
              <a:gsLst>
                <a:gs pos="0">
                  <a:sysClr val="window" lastClr="FFFFFF"/>
                </a:gs>
                <a:gs pos="74000">
                  <a:sysClr val="window" lastClr="FFFFFF">
                    <a:lumMod val="95000"/>
                  </a:sysClr>
                </a:gs>
                <a:gs pos="83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95000"/>
                  </a:sys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8" name="Прямая соединительная линия 28"/>
          <p:cNvCxnSpPr/>
          <p:nvPr userDrawn="1"/>
        </p:nvCxnSpPr>
        <p:spPr>
          <a:xfrm flipV="1">
            <a:off x="252368" y="-101"/>
            <a:ext cx="5091" cy="6476554"/>
          </a:xfrm>
          <a:prstGeom prst="line">
            <a:avLst/>
          </a:prstGeom>
          <a:noFill/>
          <a:ln w="63500" cap="flat" cmpd="sng" algn="ctr">
            <a:gradFill>
              <a:gsLst>
                <a:gs pos="0">
                  <a:sysClr val="window" lastClr="FFFFFF"/>
                </a:gs>
                <a:gs pos="74000">
                  <a:sysClr val="window" lastClr="FFFFFF">
                    <a:lumMod val="95000"/>
                  </a:sysClr>
                </a:gs>
                <a:gs pos="83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95000"/>
                  </a:sys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9" name="Прямая соединительная линия 29"/>
          <p:cNvCxnSpPr/>
          <p:nvPr userDrawn="1"/>
        </p:nvCxnSpPr>
        <p:spPr>
          <a:xfrm flipV="1">
            <a:off x="391557" y="0"/>
            <a:ext cx="0" cy="6597550"/>
          </a:xfrm>
          <a:prstGeom prst="line">
            <a:avLst/>
          </a:prstGeom>
          <a:noFill/>
          <a:ln w="63500" cap="flat" cmpd="sng" algn="ctr">
            <a:gradFill>
              <a:gsLst>
                <a:gs pos="0">
                  <a:sysClr val="window" lastClr="FFFFFF"/>
                </a:gs>
                <a:gs pos="48000">
                  <a:sysClr val="window" lastClr="FFFFFF">
                    <a:lumMod val="95000"/>
                  </a:sysClr>
                </a:gs>
                <a:gs pos="7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95000"/>
                  </a:sys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965646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11"/>
          <p:cNvCxnSpPr/>
          <p:nvPr userDrawn="1"/>
        </p:nvCxnSpPr>
        <p:spPr>
          <a:xfrm>
            <a:off x="1661842" y="6714806"/>
            <a:ext cx="7450408" cy="0"/>
          </a:xfrm>
          <a:prstGeom prst="line">
            <a:avLst/>
          </a:prstGeom>
          <a:noFill/>
          <a:ln w="285750" cap="flat" cmpd="sng" algn="ctr">
            <a:gradFill flip="none" rotWithShape="1">
              <a:gsLst>
                <a:gs pos="91803">
                  <a:srgbClr val="5B9BD5">
                    <a:lumMod val="5000"/>
                    <a:lumOff val="95000"/>
                  </a:srgbClr>
                </a:gs>
                <a:gs pos="72000">
                  <a:sysClr val="window" lastClr="FFFFFF"/>
                </a:gs>
                <a:gs pos="0">
                  <a:srgbClr val="6580BB"/>
                </a:gs>
                <a:gs pos="21000">
                  <a:srgbClr val="44546A">
                    <a:lumMod val="60000"/>
                    <a:lumOff val="40000"/>
                  </a:srgbClr>
                </a:gs>
                <a:gs pos="0">
                  <a:srgbClr val="7994DF"/>
                </a:gs>
                <a:gs pos="0">
                  <a:srgbClr val="7F9CBB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842033" y="201600"/>
            <a:ext cx="7925729" cy="62707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333F5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GB" dirty="0"/>
          </a:p>
        </p:txBody>
      </p:sp>
      <p:cxnSp>
        <p:nvCxnSpPr>
          <p:cNvPr id="11" name="Прямая соединительная линия 1030"/>
          <p:cNvCxnSpPr/>
          <p:nvPr userDrawn="1"/>
        </p:nvCxnSpPr>
        <p:spPr>
          <a:xfrm>
            <a:off x="842034" y="861920"/>
            <a:ext cx="7925338" cy="0"/>
          </a:xfrm>
          <a:prstGeom prst="line">
            <a:avLst/>
          </a:prstGeom>
          <a:ln w="47625">
            <a:solidFill>
              <a:srgbClr val="7D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Рисунок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"/>
          <a:stretch/>
        </p:blipFill>
        <p:spPr>
          <a:xfrm>
            <a:off x="1" y="6286500"/>
            <a:ext cx="1684066" cy="571500"/>
          </a:xfrm>
          <a:prstGeom prst="rect">
            <a:avLst/>
          </a:prstGeom>
        </p:spPr>
      </p:pic>
      <p:cxnSp>
        <p:nvCxnSpPr>
          <p:cNvPr id="13" name="Прямая соединительная линия 24"/>
          <p:cNvCxnSpPr/>
          <p:nvPr userDrawn="1"/>
        </p:nvCxnSpPr>
        <p:spPr>
          <a:xfrm flipV="1">
            <a:off x="252599" y="0"/>
            <a:ext cx="0" cy="6309892"/>
          </a:xfrm>
          <a:prstGeom prst="line">
            <a:avLst/>
          </a:prstGeom>
          <a:noFill/>
          <a:ln w="508000" cap="flat" cmpd="sng" algn="ctr">
            <a:gradFill flip="none" rotWithShape="1">
              <a:gsLst>
                <a:gs pos="84000">
                  <a:srgbClr val="5B9BD5">
                    <a:lumMod val="5000"/>
                    <a:lumOff val="95000"/>
                  </a:srgbClr>
                </a:gs>
                <a:gs pos="0">
                  <a:srgbClr val="6580BB"/>
                </a:gs>
                <a:gs pos="21000">
                  <a:srgbClr val="44546A">
                    <a:lumMod val="60000"/>
                    <a:lumOff val="40000"/>
                  </a:srgbClr>
                </a:gs>
                <a:gs pos="0">
                  <a:srgbClr val="7994DF"/>
                </a:gs>
                <a:gs pos="0">
                  <a:srgbClr val="7F9CBB"/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14" name="Прямая соединительная линия 26"/>
          <p:cNvCxnSpPr/>
          <p:nvPr userDrawn="1"/>
        </p:nvCxnSpPr>
        <p:spPr>
          <a:xfrm flipH="1" flipV="1">
            <a:off x="98478" y="2"/>
            <a:ext cx="18460" cy="6597548"/>
          </a:xfrm>
          <a:prstGeom prst="line">
            <a:avLst/>
          </a:prstGeom>
          <a:noFill/>
          <a:ln w="63500" cap="flat" cmpd="sng" algn="ctr">
            <a:gradFill>
              <a:gsLst>
                <a:gs pos="0">
                  <a:sysClr val="window" lastClr="FFFFFF"/>
                </a:gs>
                <a:gs pos="74000">
                  <a:sysClr val="window" lastClr="FFFFFF">
                    <a:lumMod val="95000"/>
                  </a:sysClr>
                </a:gs>
                <a:gs pos="83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95000"/>
                  </a:sys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5" name="Прямая соединительная линия 28"/>
          <p:cNvCxnSpPr/>
          <p:nvPr userDrawn="1"/>
        </p:nvCxnSpPr>
        <p:spPr>
          <a:xfrm flipV="1">
            <a:off x="252368" y="-101"/>
            <a:ext cx="5091" cy="6476554"/>
          </a:xfrm>
          <a:prstGeom prst="line">
            <a:avLst/>
          </a:prstGeom>
          <a:noFill/>
          <a:ln w="63500" cap="flat" cmpd="sng" algn="ctr">
            <a:gradFill>
              <a:gsLst>
                <a:gs pos="0">
                  <a:sysClr val="window" lastClr="FFFFFF"/>
                </a:gs>
                <a:gs pos="74000">
                  <a:sysClr val="window" lastClr="FFFFFF">
                    <a:lumMod val="95000"/>
                  </a:sysClr>
                </a:gs>
                <a:gs pos="83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95000"/>
                  </a:sys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6" name="Прямая соединительная линия 29"/>
          <p:cNvCxnSpPr/>
          <p:nvPr userDrawn="1"/>
        </p:nvCxnSpPr>
        <p:spPr>
          <a:xfrm flipV="1">
            <a:off x="391557" y="0"/>
            <a:ext cx="0" cy="6597550"/>
          </a:xfrm>
          <a:prstGeom prst="line">
            <a:avLst/>
          </a:prstGeom>
          <a:noFill/>
          <a:ln w="63500" cap="flat" cmpd="sng" algn="ctr">
            <a:gradFill>
              <a:gsLst>
                <a:gs pos="0">
                  <a:sysClr val="window" lastClr="FFFFFF"/>
                </a:gs>
                <a:gs pos="48000">
                  <a:sysClr val="window" lastClr="FFFFFF">
                    <a:lumMod val="95000"/>
                  </a:sysClr>
                </a:gs>
                <a:gs pos="7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95000"/>
                  </a:sys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7" name="TextBox 16"/>
          <p:cNvSpPr txBox="1"/>
          <p:nvPr userDrawn="1"/>
        </p:nvSpPr>
        <p:spPr>
          <a:xfrm>
            <a:off x="8339920" y="6613200"/>
            <a:ext cx="720000" cy="19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fld id="{9AE4D82F-B047-469B-AC52-A46321747EAF}" type="slidenum">
              <a:rPr lang="en-GB" sz="1100" smtClean="0">
                <a:solidFill>
                  <a:srgbClr val="676767"/>
                </a:solidFill>
              </a:rPr>
              <a:pPr algn="ctr"/>
              <a:t>‹#›</a:t>
            </a:fld>
            <a:endParaRPr lang="en-GB" sz="1100" dirty="0">
              <a:solidFill>
                <a:srgbClr val="6767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277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B688F-0F0E-4C9B-AB96-A13AB5275397}" type="datetime1">
              <a:rPr lang="ru-RU" smtClean="0"/>
              <a:pPr/>
              <a:t>24.06.2026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013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28935717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Picture 3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5663" y="201600"/>
            <a:ext cx="7927975" cy="6270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773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1" kern="1200">
          <a:solidFill>
            <a:srgbClr val="333F50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2400" kern="1200">
          <a:solidFill>
            <a:srgbClr val="333F50"/>
          </a:solidFill>
          <a:latin typeface="+mn-lt"/>
          <a:ea typeface="+mn-ea"/>
          <a:cs typeface="+mn-cs"/>
        </a:defRPr>
      </a:lvl1pPr>
      <a:lvl2pPr marL="709613" indent="-354013" algn="l" defTabSz="914400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2000" kern="1200">
          <a:solidFill>
            <a:srgbClr val="333F50"/>
          </a:solidFill>
          <a:latin typeface="+mn-lt"/>
          <a:ea typeface="+mn-ea"/>
          <a:cs typeface="+mn-cs"/>
        </a:defRPr>
      </a:lvl2pPr>
      <a:lvl3pPr marL="1077913" indent="-354013" algn="l" defTabSz="914400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800" kern="1200">
          <a:solidFill>
            <a:srgbClr val="333F50"/>
          </a:solidFill>
          <a:latin typeface="+mn-lt"/>
          <a:ea typeface="+mn-ea"/>
          <a:cs typeface="+mn-cs"/>
        </a:defRPr>
      </a:lvl3pPr>
      <a:lvl4pPr marL="1433513" indent="-355600" algn="l" defTabSz="914400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600" kern="1200">
          <a:solidFill>
            <a:srgbClr val="333F50"/>
          </a:solidFill>
          <a:latin typeface="+mn-lt"/>
          <a:ea typeface="+mn-ea"/>
          <a:cs typeface="+mn-cs"/>
        </a:defRPr>
      </a:lvl4pPr>
      <a:lvl5pPr marL="1787525" indent="-354013" algn="l" defTabSz="914400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600" kern="1200">
          <a:solidFill>
            <a:srgbClr val="333F5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59364" y="2321003"/>
            <a:ext cx="6032810" cy="221599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500" dirty="0">
                <a:solidFill>
                  <a:schemeClr val="bg1"/>
                </a:solidFill>
                <a:latin typeface="+mj-lt"/>
              </a:rPr>
              <a:t>ТЕМА ВЫПУСКНОЙ КВАЛИФИКАЦИОННОЙ РАБОТЫ</a:t>
            </a:r>
          </a:p>
          <a:p>
            <a:pPr algn="ctr"/>
            <a:r>
              <a:rPr lang="ru-RU" sz="1500" dirty="0">
                <a:solidFill>
                  <a:schemeClr val="bg1"/>
                </a:solidFill>
                <a:latin typeface="+mj-lt"/>
              </a:rPr>
              <a:t>  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+mj-lt"/>
              </a:rPr>
              <a:t>Исследование динамики возмущенного движения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+mj-lt"/>
              </a:rPr>
              <a:t> ракеты-носителя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+mj-lt"/>
              </a:rPr>
              <a:t> с учетом упругости конструкции</a:t>
            </a:r>
          </a:p>
          <a:p>
            <a:pPr algn="ctr"/>
            <a:endParaRPr lang="ru-RU" sz="15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ru-RU" sz="1500" dirty="0">
                <a:solidFill>
                  <a:schemeClr val="bg1"/>
                </a:solidFill>
                <a:latin typeface="+mj-lt"/>
              </a:rPr>
              <a:t>по научному направлению №2.5.16</a:t>
            </a:r>
          </a:p>
          <a:p>
            <a:pPr algn="ctr"/>
            <a:r>
              <a:rPr lang="ru-RU" sz="1500" dirty="0">
                <a:solidFill>
                  <a:schemeClr val="bg1"/>
                </a:solidFill>
                <a:latin typeface="+mj-lt"/>
              </a:rPr>
              <a:t>«Динамика, баллистика, управление движением </a:t>
            </a:r>
          </a:p>
          <a:p>
            <a:pPr algn="ctr"/>
            <a:r>
              <a:rPr lang="ru-RU" sz="1500" dirty="0">
                <a:solidFill>
                  <a:schemeClr val="bg1"/>
                </a:solidFill>
                <a:latin typeface="+mj-lt"/>
              </a:rPr>
              <a:t>летательных аппаратов»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827" y="4697223"/>
            <a:ext cx="4415883" cy="2000548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spcBef>
                <a:spcPts val="1200"/>
              </a:spcBef>
              <a:tabLst>
                <a:tab pos="630555" algn="l"/>
              </a:tabLst>
            </a:pPr>
            <a:r>
              <a:rPr lang="ru-RU" sz="1400" dirty="0">
                <a:solidFill>
                  <a:schemeClr val="bg1"/>
                </a:solidFill>
                <a:latin typeface="+mj-lt"/>
              </a:rPr>
              <a:t>Автор: аспирант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+mj-lt"/>
              </a:rPr>
              <a:t>3 </a:t>
            </a:r>
            <a:r>
              <a:rPr lang="ru-RU" sz="1400" b="1" dirty="0">
                <a:solidFill>
                  <a:schemeClr val="bg1"/>
                </a:solidFill>
                <a:latin typeface="+mj-lt"/>
              </a:rPr>
              <a:t>года обучения</a:t>
            </a:r>
          </a:p>
          <a:p>
            <a:pPr algn="ctr">
              <a:spcBef>
                <a:spcPts val="600"/>
              </a:spcBef>
              <a:tabLst>
                <a:tab pos="630555" algn="l"/>
              </a:tabLst>
            </a:pPr>
            <a:r>
              <a:rPr lang="ru-RU" sz="14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Сметана Владимир Владимирович</a:t>
            </a:r>
          </a:p>
          <a:p>
            <a:pPr algn="ctr">
              <a:spcBef>
                <a:spcPts val="600"/>
              </a:spcBef>
              <a:tabLst>
                <a:tab pos="630555" algn="l"/>
              </a:tabLst>
            </a:pPr>
            <a:r>
              <a:rPr lang="ru-RU" sz="14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Руководитель: </a:t>
            </a:r>
            <a:r>
              <a:rPr lang="en-US" sz="14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доцент Давыдов Игорь Евгеньевич</a:t>
            </a:r>
          </a:p>
          <a:p>
            <a:pPr algn="ctr">
              <a:spcBef>
                <a:spcPts val="1200"/>
              </a:spcBef>
              <a:tabLst>
                <a:tab pos="630555" algn="l"/>
              </a:tabLst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г.</a:t>
            </a:r>
          </a:p>
          <a:p>
            <a:pPr algn="ctr"/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г. Самара</a:t>
            </a:r>
          </a:p>
          <a:p>
            <a:pPr algn="ctr"/>
            <a:endParaRPr lang="ru-RU" sz="1400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80732838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D2B8334-E24C-45D2-868B-63C2F46E2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6485"/>
            <a:ext cx="7886700" cy="522114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ТЕМАТИКА ИССЛЕДОВАНИЯ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F02E527B-E79E-40F5-81B7-EAB555293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69819"/>
            <a:ext cx="8099714" cy="2685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dirty="0"/>
              <a:t>Исследование затрагивает четыре направления динамики движения ракет-носителя</a:t>
            </a:r>
            <a:r>
              <a:rPr lang="en-US" sz="1400" dirty="0"/>
              <a:t>:</a:t>
            </a:r>
            <a:endParaRPr lang="ru-RU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DAC6E7-EA86-492E-9C02-96741A8B0AC7}"/>
              </a:ext>
            </a:extLst>
          </p:cNvPr>
          <p:cNvSpPr txBox="1"/>
          <p:nvPr/>
        </p:nvSpPr>
        <p:spPr>
          <a:xfrm>
            <a:off x="8153400" y="63119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2</a:t>
            </a:r>
          </a:p>
        </p:txBody>
      </p:sp>
      <p:graphicFrame>
        <p:nvGraphicFramePr>
          <p:cNvPr id="3" name="Таблица 4">
            <a:extLst>
              <a:ext uri="{FF2B5EF4-FFF2-40B4-BE49-F238E27FC236}">
                <a16:creationId xmlns:a16="http://schemas.microsoft.com/office/drawing/2014/main" id="{F814D9F7-73CE-4DC8-B456-538F514AB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942385"/>
              </p:ext>
            </p:extLst>
          </p:nvPr>
        </p:nvGraphicFramePr>
        <p:xfrm>
          <a:off x="628650" y="1469577"/>
          <a:ext cx="809971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4928">
                  <a:extLst>
                    <a:ext uri="{9D8B030D-6E8A-4147-A177-3AD203B41FA5}">
                      <a16:colId xmlns:a16="http://schemas.microsoft.com/office/drawing/2014/main" val="2151582266"/>
                    </a:ext>
                  </a:extLst>
                </a:gridCol>
                <a:gridCol w="2024928">
                  <a:extLst>
                    <a:ext uri="{9D8B030D-6E8A-4147-A177-3AD203B41FA5}">
                      <a16:colId xmlns:a16="http://schemas.microsoft.com/office/drawing/2014/main" val="655465491"/>
                    </a:ext>
                  </a:extLst>
                </a:gridCol>
                <a:gridCol w="2024928">
                  <a:extLst>
                    <a:ext uri="{9D8B030D-6E8A-4147-A177-3AD203B41FA5}">
                      <a16:colId xmlns:a16="http://schemas.microsoft.com/office/drawing/2014/main" val="4003214187"/>
                    </a:ext>
                  </a:extLst>
                </a:gridCol>
                <a:gridCol w="2024928">
                  <a:extLst>
                    <a:ext uri="{9D8B030D-6E8A-4147-A177-3AD203B41FA5}">
                      <a16:colId xmlns:a16="http://schemas.microsoft.com/office/drawing/2014/main" val="28423878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Аэродинамика и аэроупругость</a:t>
                      </a:r>
                    </a:p>
                    <a:p>
                      <a:pPr algn="ct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Изгибные колебания в ракетах-носителях</a:t>
                      </a:r>
                    </a:p>
                    <a:p>
                      <a:pPr algn="ct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Динамика многоразовых блоков </a:t>
                      </a:r>
                    </a:p>
                    <a:p>
                      <a:pPr algn="ct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Точность посадки многоразовых блоков </a:t>
                      </a:r>
                    </a:p>
                    <a:p>
                      <a:pPr algn="ctr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156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Уточняются аэродинамические параметры и разрабатывается методика совместного учета колебательных и аэродинамических параметров</a:t>
                      </a:r>
                    </a:p>
                    <a:p>
                      <a:pPr algn="ct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Производится моделирование изгибных колебаний методом последовательных приближений на каждом шаге интегрирования</a:t>
                      </a:r>
                    </a:p>
                    <a:p>
                      <a:pPr algn="ct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В работе производится моделирование полета и возвращения ракетных блоков, рассматриваются условия пространственного движения</a:t>
                      </a:r>
                    </a:p>
                    <a:p>
                      <a:pPr algn="ct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Анализируются условия достижения максимальной точности посадки в заданный район</a:t>
                      </a:r>
                    </a:p>
                    <a:p>
                      <a:pPr algn="ctr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485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2420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23E2A-B27B-4F88-938D-0AFA3FDFF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6485"/>
            <a:ext cx="7886700" cy="522114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ПРОБЛЕМАТИКА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90A609-8767-496A-85B9-B8B05A9D2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926410"/>
            <a:ext cx="8145895" cy="2380207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AutoNum type="arabicParenR"/>
            </a:pPr>
            <a:r>
              <a:rPr lang="ru-RU" sz="1400" dirty="0"/>
              <a:t>При сравнительном анализе данных по контролируемым параметрам наблюдается расхождение между ними, т.е. данные телеметрии отличаются от данных математического моделирования почти в 1.5 — 2 раза. Необходим метод, позволяющий уточнить параметры модели.</a:t>
            </a:r>
          </a:p>
          <a:p>
            <a:pPr marL="342900" indent="-342900">
              <a:buAutoNum type="arabicParenR"/>
            </a:pPr>
            <a:r>
              <a:rPr lang="ru-RU" sz="1400" dirty="0"/>
              <a:t>Ограниченность принятых методик расчета аэродинамических коэффициентов 10 градусами угла атаки и 60 км высоты.</a:t>
            </a:r>
          </a:p>
          <a:p>
            <a:pPr marL="342900" indent="-342900">
              <a:buAutoNum type="arabicParenR"/>
            </a:pPr>
            <a:r>
              <a:rPr lang="ru-RU" sz="1400" dirty="0"/>
              <a:t>Проблематика учета несимметричности и систем возвращения</a:t>
            </a:r>
          </a:p>
          <a:p>
            <a:pPr marL="342900" indent="-342900">
              <a:buAutoNum type="arabicParenR"/>
            </a:pPr>
            <a:r>
              <a:rPr lang="ru-RU" sz="1400" dirty="0"/>
              <a:t>Необходимость в создании постоянно обновляющийся статистики расчета аэродинамики ракетного полета</a:t>
            </a:r>
          </a:p>
          <a:p>
            <a:pPr marL="342900" indent="-342900">
              <a:buAutoNum type="arabicParenR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Необходимость учета колебания корпуса конструкции при расчете аэродинамических коэффициентов на каждом шаге интегрирования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9210405-4AF9-4029-81B7-7E0E100C2D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4" r="18463"/>
          <a:stretch/>
        </p:blipFill>
        <p:spPr bwMode="auto">
          <a:xfrm>
            <a:off x="6365118" y="3236961"/>
            <a:ext cx="2084767" cy="250231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60CD05-E881-4F64-8172-39C9F1BE6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13" y="3236960"/>
            <a:ext cx="5457994" cy="2502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FC828F-AF63-417A-B03B-9031D83DAF08}"/>
              </a:ext>
            </a:extLst>
          </p:cNvPr>
          <p:cNvSpPr txBox="1"/>
          <p:nvPr/>
        </p:nvSpPr>
        <p:spPr>
          <a:xfrm>
            <a:off x="1603445" y="5749681"/>
            <a:ext cx="3639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Наглядное представление влияния возмущений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962363-AF37-4DC7-B6B6-D89026400467}"/>
              </a:ext>
            </a:extLst>
          </p:cNvPr>
          <p:cNvSpPr txBox="1"/>
          <p:nvPr/>
        </p:nvSpPr>
        <p:spPr>
          <a:xfrm>
            <a:off x="6561243" y="5756561"/>
            <a:ext cx="1692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Задача возвращения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FDC64F-7F28-4316-908D-94BD84FCF102}"/>
              </a:ext>
            </a:extLst>
          </p:cNvPr>
          <p:cNvSpPr txBox="1"/>
          <p:nvPr/>
        </p:nvSpPr>
        <p:spPr>
          <a:xfrm>
            <a:off x="8153400" y="63119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14742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8A592D-6CD8-4A67-875F-0A690D832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1217"/>
            <a:ext cx="7886700" cy="630755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СОСТОЯНИЕ ВОПРОСА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843BE52-541D-430B-BC89-84774CA4A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979054"/>
            <a:ext cx="2169968" cy="311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неопределенный">
            <a:extLst>
              <a:ext uri="{FF2B5EF4-FFF2-40B4-BE49-F238E27FC236}">
                <a16:creationId xmlns:a16="http://schemas.microsoft.com/office/drawing/2014/main" id="{41207147-D66B-4B60-825C-0827EA59A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311" y="979054"/>
            <a:ext cx="2911559" cy="311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6485B036-A0D4-470E-9DAD-1A2ED6F5B8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10" r="37188" b="888"/>
          <a:stretch/>
        </p:blipFill>
        <p:spPr bwMode="auto">
          <a:xfrm>
            <a:off x="3713523" y="979054"/>
            <a:ext cx="1463964" cy="311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6147B957-C501-400A-A555-DE36E822E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017" y="4230954"/>
            <a:ext cx="1210975" cy="25307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1400" dirty="0"/>
              <a:t>«Титан-3»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62AB81F-7F0D-42EF-A810-19ED638FCA9B}"/>
              </a:ext>
            </a:extLst>
          </p:cNvPr>
          <p:cNvSpPr txBox="1">
            <a:spLocks/>
          </p:cNvSpPr>
          <p:nvPr/>
        </p:nvSpPr>
        <p:spPr>
          <a:xfrm>
            <a:off x="6307931" y="4230954"/>
            <a:ext cx="1210975" cy="2530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1400" dirty="0"/>
              <a:t>«</a:t>
            </a:r>
            <a:r>
              <a:rPr lang="en-US" sz="1400" dirty="0"/>
              <a:t>Callisto</a:t>
            </a:r>
            <a:r>
              <a:rPr lang="ru-RU" sz="1400" dirty="0"/>
              <a:t>»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4FDB1676-E676-40FC-9413-44FE1EA66FE4}"/>
              </a:ext>
            </a:extLst>
          </p:cNvPr>
          <p:cNvSpPr txBox="1">
            <a:spLocks/>
          </p:cNvSpPr>
          <p:nvPr/>
        </p:nvSpPr>
        <p:spPr>
          <a:xfrm>
            <a:off x="568613" y="4230954"/>
            <a:ext cx="2290041" cy="25307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1400" dirty="0"/>
              <a:t>«Классические» справочники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29CC0079-6568-4777-86E3-C29E9BC8C09D}"/>
              </a:ext>
            </a:extLst>
          </p:cNvPr>
          <p:cNvSpPr txBox="1">
            <a:spLocks/>
          </p:cNvSpPr>
          <p:nvPr/>
        </p:nvSpPr>
        <p:spPr>
          <a:xfrm>
            <a:off x="628650" y="5048045"/>
            <a:ext cx="8016587" cy="9744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dirty="0"/>
              <a:t>Как правило, для в качестве аэродинамических параметров берутся параметры ракеты-прототипа. Такие данные ограничены свойствами эталона и не учитывают колебательных эффектов. Существует необходимость в создании обновляемой базы данных, учитывающей данные эффекты. Работы отечественных исследователей базируются на справочной литературе или конкретных характеристиках эталонной ракеты (часто «Титан-3»), зарубежные источники используют «</a:t>
            </a:r>
            <a:r>
              <a:rPr lang="en-US" sz="1400" dirty="0"/>
              <a:t>Callisto</a:t>
            </a:r>
            <a:r>
              <a:rPr lang="ru-RU" sz="1400" dirty="0"/>
              <a:t>».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207E6E-5030-420E-936A-AB80915852BC}"/>
              </a:ext>
            </a:extLst>
          </p:cNvPr>
          <p:cNvSpPr txBox="1"/>
          <p:nvPr/>
        </p:nvSpPr>
        <p:spPr>
          <a:xfrm>
            <a:off x="8153400" y="63119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04156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11A67B6-6D3F-4F58-87A0-D9D784318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1217"/>
            <a:ext cx="7886700" cy="630755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СОСТОЯНИЕ ВОПРОСА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4061707C-BACE-4BC3-AA5B-9E94FEFEA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669" y="841972"/>
            <a:ext cx="3097191" cy="3728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1FA36498-AB7A-4978-B41F-E5BA1DAD4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089" y="841972"/>
            <a:ext cx="4932219" cy="2478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0D8C6D2B-7095-4FD8-B45B-BD9BD6060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3089" y="3429000"/>
            <a:ext cx="4932219" cy="22832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dirty="0">
                <a:latin typeface="+mj-lt"/>
              </a:rPr>
              <a:t>Активное использование статистических параметров, а также учет колебаний только на этапе динамических расчетов может создать расхождение с реальными данными, что может повлечь за собой ошибки предварительных расчетов. Это подтверждают следующие источники: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BC6458-1C23-4D05-89BF-A5853725994C}"/>
              </a:ext>
            </a:extLst>
          </p:cNvPr>
          <p:cNvSpPr txBox="1"/>
          <p:nvPr/>
        </p:nvSpPr>
        <p:spPr>
          <a:xfrm>
            <a:off x="378692" y="4570629"/>
            <a:ext cx="82616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arenR"/>
            </a:pPr>
            <a:r>
              <a:rPr lang="ru-RU" sz="1400" b="1" i="0" dirty="0">
                <a:solidFill>
                  <a:srgbClr val="333333"/>
                </a:solidFill>
                <a:effectLst/>
                <a:latin typeface="YS Text"/>
              </a:rPr>
              <a:t>Ендуткина Е. А. </a:t>
            </a:r>
            <a:r>
              <a:rPr lang="ru-RU" sz="1400" i="0" dirty="0">
                <a:solidFill>
                  <a:srgbClr val="333333"/>
                </a:solidFill>
                <a:effectLst/>
                <a:latin typeface="YS Text"/>
              </a:rPr>
              <a:t>Обеспечение управляемости первой ступени ракеты –носителя  с использованием расчетных профилей ветра перед пуском </a:t>
            </a:r>
            <a:r>
              <a:rPr lang="ru-RU" sz="1400" dirty="0">
                <a:solidFill>
                  <a:srgbClr val="333333"/>
                </a:solidFill>
                <a:latin typeface="YS Text"/>
              </a:rPr>
              <a:t>(диссертация)</a:t>
            </a:r>
            <a:endParaRPr lang="ru-RU" sz="1400" i="0" dirty="0">
              <a:solidFill>
                <a:srgbClr val="333333"/>
              </a:solidFill>
              <a:effectLst/>
              <a:latin typeface="YS Text"/>
            </a:endParaRPr>
          </a:p>
          <a:p>
            <a:pPr marL="342900" indent="-342900">
              <a:buAutoNum type="arabicParenR"/>
            </a:pPr>
            <a:r>
              <a:rPr lang="ru-RU" sz="1400" b="1" dirty="0">
                <a:solidFill>
                  <a:srgbClr val="333333"/>
                </a:solidFill>
                <a:latin typeface="YS Text"/>
              </a:rPr>
              <a:t>Давыдов И.Е. </a:t>
            </a:r>
            <a:r>
              <a:rPr lang="ru-RU" sz="1400" dirty="0">
                <a:solidFill>
                  <a:srgbClr val="333333"/>
                </a:solidFill>
                <a:latin typeface="YS Text"/>
              </a:rPr>
              <a:t>Исследование динамической совместимости ракеты-носителя с различными головными блоками (диссертация)</a:t>
            </a:r>
          </a:p>
          <a:p>
            <a:pPr marL="342900" indent="-342900">
              <a:buAutoNum type="arabicParenR"/>
            </a:pPr>
            <a:r>
              <a:rPr lang="ru-RU" sz="1400" b="1" dirty="0">
                <a:solidFill>
                  <a:srgbClr val="333333"/>
                </a:solidFill>
                <a:latin typeface="YS Text"/>
              </a:rPr>
              <a:t>Амирьянц Г.А. </a:t>
            </a:r>
            <a:r>
              <a:rPr lang="ru-RU" sz="1400" dirty="0">
                <a:solidFill>
                  <a:srgbClr val="333333"/>
                </a:solidFill>
                <a:latin typeface="YS Text"/>
              </a:rPr>
              <a:t>Влияние упругих деформаций «жестких» аэродинамических моделей на их аэродинамические характеристики</a:t>
            </a:r>
          </a:p>
          <a:p>
            <a:pPr marL="342900" indent="-342900">
              <a:buAutoNum type="arabicParenR"/>
            </a:pPr>
            <a:r>
              <a:rPr lang="ru-RU" sz="1400" b="1" dirty="0">
                <a:solidFill>
                  <a:srgbClr val="333333"/>
                </a:solidFill>
                <a:latin typeface="YS Text"/>
              </a:rPr>
              <a:t>Безуевский А.В. </a:t>
            </a:r>
            <a:r>
              <a:rPr lang="ru-RU" sz="1400" dirty="0">
                <a:solidFill>
                  <a:srgbClr val="333333"/>
                </a:solidFill>
                <a:latin typeface="YS Text"/>
              </a:rPr>
              <a:t>Влияние квазистатических деформаций на характеристики аэроупругости самолета с крылом большого удлинения</a:t>
            </a:r>
          </a:p>
          <a:p>
            <a:pPr marL="342900" indent="-342900">
              <a:buAutoNum type="arabicParenR"/>
            </a:pPr>
            <a:endParaRPr lang="ru-RU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35B3FB-D32F-4338-8168-491BA7C877A0}"/>
              </a:ext>
            </a:extLst>
          </p:cNvPr>
          <p:cNvSpPr txBox="1"/>
          <p:nvPr/>
        </p:nvSpPr>
        <p:spPr>
          <a:xfrm>
            <a:off x="8153400" y="63119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02660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53852D-C4ED-48BC-808D-6A5766372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211218"/>
            <a:ext cx="7886700" cy="585488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МАТЕМАТИЧЕСКАЯ МОДЕЛЬ. БАЛЛИСТИКА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D14E9EB9-6110-489A-BDCD-E2EA010769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BE513-EA74-4C20-9837-97B3EFF0D15A}"/>
              </a:ext>
            </a:extLst>
          </p:cNvPr>
          <p:cNvSpPr txBox="1"/>
          <p:nvPr/>
        </p:nvSpPr>
        <p:spPr>
          <a:xfrm>
            <a:off x="481842" y="5276993"/>
            <a:ext cx="18192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 -   </a:t>
            </a:r>
            <a:r>
              <a:rPr lang="ru-RU" sz="1200" dirty="0"/>
              <a:t>участок выведения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9035D9-BC03-4719-A6F1-F449AF82FA06}"/>
              </a:ext>
            </a:extLst>
          </p:cNvPr>
          <p:cNvSpPr txBox="1"/>
          <p:nvPr/>
        </p:nvSpPr>
        <p:spPr>
          <a:xfrm>
            <a:off x="440123" y="5552509"/>
            <a:ext cx="20292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II -   </a:t>
            </a:r>
            <a:r>
              <a:rPr lang="ru-RU" sz="1200" dirty="0"/>
              <a:t>участок возвращения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BF1798-CF54-4F91-8AC4-2722A0C8C1EC}"/>
                  </a:ext>
                </a:extLst>
              </p:cNvPr>
              <p:cNvSpPr txBox="1"/>
              <p:nvPr/>
            </p:nvSpPr>
            <p:spPr>
              <a:xfrm>
                <a:off x="3098796" y="796706"/>
                <a:ext cx="4572000" cy="2621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d>
                                  <m:d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f>
                                  <m:f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ru-RU" sz="1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𝑞𝑆𝑐𝑜𝑠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𝑞𝑆𝑠𝑖𝑛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𝑞𝑆𝑐𝑜𝑠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𝑚𝑔𝑠𝑖𝑛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d>
                                  <m:d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f>
                                  <m:f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ru-RU" sz="1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𝑞𝑆𝑠𝑖𝑛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𝑞𝑆𝑐𝑜𝑠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𝑞𝑆𝑠𝑖𝑛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𝑚𝑔𝑐𝑜𝑠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d>
                                  <m:d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f>
                                  <m:f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ru-RU" sz="1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𝑞𝑆𝑠𝑖𝑛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𝑞𝑆𝑐𝑜𝑠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𝑚𝑔𝑐𝑜𝑠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f>
                                  <m:f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  <m:sSup>
                                      <m:sSupPr>
                                        <m:ctrlPr>
                                          <a:rPr lang="ru-RU" sz="1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p>
                                        <m:r>
                                          <a:rPr lang="ru-RU" sz="14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</m:num>
                                  <m:den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; </m:t>
                                </m:r>
                                <m:f>
                                  <m:f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𝑑𝑦</m:t>
                                    </m:r>
                                  </m:num>
                                  <m:den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;  </m:t>
                                </m:r>
                                <m:f>
                                  <m:f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𝑑𝑧</m:t>
                                    </m:r>
                                  </m:num>
                                  <m:den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; </m:t>
                                </m:r>
                                <m:sSup>
                                  <m:sSup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p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ru-RU" sz="1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ru-RU" sz="1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ru-RU" sz="1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ru-RU" sz="14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ru-RU" sz="14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ru-RU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ru-RU" sz="1400" i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ru-RU" sz="1400" i="0">
                                                <a:latin typeface="Cambria Math" panose="02040503050406030204" pitchFamily="18" charset="0"/>
                                              </a:rPr>
                                              <m:t>=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ru-RU" sz="14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ru-RU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ru-RU" sz="1400" i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ru-RU" sz="1400" i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ru-RU" sz="14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ru-RU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ru-RU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𝑅</m:t>
                                                    </m:r>
                                                    <m:r>
                                                      <a:rPr lang="ru-RU" sz="1400" i="0">
                                                        <a:latin typeface="Cambria Math" panose="02040503050406030204" pitchFamily="18" charset="0"/>
                                                      </a:rPr>
                                                      <m:t>+</m:t>
                                                    </m:r>
                                                    <m:r>
                                                      <a:rPr lang="ru-RU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</m:d>
                                              </m:e>
                                              <m:sup>
                                                <m:r>
                                                  <a:rPr lang="ru-RU" sz="1400" i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ru-RU" sz="1400" i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ru-RU" sz="14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ru-RU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𝑧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ru-RU" sz="1400" i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ru-RU" sz="1400" i="0">
                                                <a:latin typeface="Cambria Math" panose="02040503050406030204" pitchFamily="18" charset="0"/>
                                              </a:rPr>
                                              <m:t>; </m:t>
                                            </m:r>
                                            <m:r>
                                              <a:rPr lang="ru-RU" sz="1400" i="1"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  <m:r>
                                              <a:rPr lang="ru-RU" sz="1400" i="0">
                                                <a:latin typeface="Cambria Math" panose="02040503050406030204" pitchFamily="18" charset="0"/>
                                              </a:rPr>
                                              <m:t>=</m:t>
                                            </m:r>
                                            <m:r>
                                              <a:rPr lang="ru-RU" sz="1400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  <m:r>
                                              <a:rPr lang="ru-RU" sz="1400" i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ru-RU" sz="1400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  <m:r>
                                              <a:rPr lang="ru-RU" sz="1400" i="0">
                                                <a:latin typeface="Cambria Math" panose="02040503050406030204" pitchFamily="18" charset="0"/>
                                              </a:rPr>
                                              <m:t>;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plcHide m:val="on"/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ru-RU" sz="14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a:rPr lang="ru-RU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𝜂</m:t>
                                                  </m:r>
                                                  <m:r>
                                                    <a:rPr lang="ru-RU" sz="1400" i="0">
                                                      <a:latin typeface="Cambria Math" panose="02040503050406030204" pitchFamily="18" charset="0"/>
                                                    </a:rPr>
                                                    <m:t>=</m:t>
                                                  </m:r>
                                                  <m:r>
                                                    <a:rPr lang="ru-RU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𝑎𝑟𝑐𝑡𝑔</m:t>
                                                  </m:r>
                                                  <m:f>
                                                    <m:fPr>
                                                      <m:ctrlPr>
                                                        <a:rPr lang="ru-RU" sz="1400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ru-RU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num>
                                                    <m:den>
                                                      <m:r>
                                                        <a:rPr lang="ru-RU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𝑅</m:t>
                                                      </m:r>
                                                      <m:r>
                                                        <a:rPr lang="ru-RU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+</m:t>
                                                      </m:r>
                                                      <m:r>
                                                        <a:rPr lang="ru-RU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den>
                                                  </m:f>
                                                  <m:r>
                                                    <a:rPr lang="ru-RU" sz="1400" i="0">
                                                      <a:latin typeface="Cambria Math" panose="02040503050406030204" pitchFamily="18" charset="0"/>
                                                    </a:rPr>
                                                    <m:t>; </m:t>
                                                  </m:r>
                                                  <m:r>
                                                    <a:rPr lang="ru-RU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  <m:r>
                                                    <a:rPr lang="ru-RU" sz="1400" i="0">
                                                      <a:latin typeface="Cambria Math" panose="02040503050406030204" pitchFamily="18" charset="0"/>
                                                    </a:rPr>
                                                    <m:t>=</m:t>
                                                  </m:r>
                                                  <m:r>
                                                    <a:rPr lang="ru-RU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𝑎𝑟𝑐𝑐𝑜𝑠</m:t>
                                                  </m:r>
                                                  <m:f>
                                                    <m:fPr>
                                                      <m:ctrlPr>
                                                        <a:rPr lang="ru-RU" sz="1400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sSub>
                                                        <m:sSubPr>
                                                          <m:ctrlPr>
                                                            <a:rPr lang="ru-RU" sz="1400" i="1">
                                                              <a:solidFill>
                                                                <a:srgbClr val="836967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ru-RU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𝑉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ru-RU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𝑥</m:t>
                                                          </m:r>
                                                        </m:sub>
                                                      </m:sSub>
                                                    </m:num>
                                                    <m:den>
                                                      <m:r>
                                                        <a:rPr lang="ru-RU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𝑉</m:t>
                                                      </m:r>
                                                    </m:den>
                                                  </m:f>
                                                  <m:r>
                                                    <a:rPr lang="ru-RU" sz="1400" i="0">
                                                      <a:latin typeface="Cambria Math" panose="02040503050406030204" pitchFamily="18" charset="0"/>
                                                    </a:rPr>
                                                    <m:t>; </m:t>
                                                  </m:r>
                                                  <m:m>
                                                    <m:mPr>
                                                      <m:plcHide m:val="on"/>
                                                      <m:mcs>
                                                        <m:mc>
                                                          <m:mcPr>
                                                            <m:count m:val="1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ru-RU" sz="1400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sty m:val="p"/>
                                                          </m:rPr>
                                                          <a:rPr lang="ru-RU" sz="1400" i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Ω</m:t>
                                                        </m:r>
                                                        <m:r>
                                                          <a:rPr lang="ru-RU" sz="1400" i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=</m:t>
                                                        </m:r>
                                                        <m:r>
                                                          <a:rPr lang="ru-RU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𝑎𝑟𝑐𝑐𝑜𝑠</m:t>
                                                        </m:r>
                                                        <m:f>
                                                          <m:fPr>
                                                            <m:ctrlPr>
                                                              <a:rPr lang="ru-RU" sz="1400" i="1">
                                                                <a:solidFill>
                                                                  <a:srgbClr val="836967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fPr>
                                                          <m:num>
                                                            <m:sSub>
                                                              <m:sSubPr>
                                                                <m:ctrlPr>
                                                                  <a:rPr lang="ru-RU" sz="1400" i="1">
                                                                    <a:solidFill>
                                                                      <a:srgbClr val="836967"/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</m:ctrlPr>
                                                              </m:sSubPr>
                                                              <m:e>
                                                                <m:r>
                                                                  <a:rPr lang="ru-RU" sz="1400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𝑉</m:t>
                                                                </m:r>
                                                              </m:e>
                                                              <m:sub>
                                                                <m:r>
                                                                  <a:rPr lang="ru-RU" sz="1400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𝑧</m:t>
                                                                </m:r>
                                                              </m:sub>
                                                            </m:sSub>
                                                          </m:num>
                                                          <m:den>
                                                            <m:r>
                                                              <a:rPr lang="ru-RU" sz="1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𝑉</m:t>
                                                            </m:r>
                                                          </m:den>
                                                        </m:f>
                                                        <m:r>
                                                          <a:rPr lang="ru-RU" sz="1400" i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; </m:t>
                                                        </m:r>
                                                        <m:r>
                                                          <a:rPr lang="ru-RU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𝑎</m:t>
                                                        </m:r>
                                                        <m:r>
                                                          <a:rPr lang="ru-RU" sz="1400" i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=</m:t>
                                                        </m:r>
                                                        <m:r>
                                                          <a:rPr lang="ru-RU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𝜑</m:t>
                                                        </m:r>
                                                        <m:r>
                                                          <a:rPr lang="ru-RU" sz="1400" i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−</m:t>
                                                        </m:r>
                                                        <m:r>
                                                          <a:rPr lang="ru-RU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𝜃</m:t>
                                                        </m:r>
                                                        <m:r>
                                                          <a:rPr lang="ru-RU" sz="1400" i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BF1798-CF54-4F91-8AC4-2722A0C8C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796" y="796706"/>
                <a:ext cx="4572000" cy="2621230"/>
              </a:xfrm>
              <a:prstGeom prst="rect">
                <a:avLst/>
              </a:prstGeom>
              <a:blipFill>
                <a:blip r:embed="rId3"/>
                <a:stretch>
                  <a:fillRect r="-192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03.eps">
            <a:extLst>
              <a:ext uri="{FF2B5EF4-FFF2-40B4-BE49-F238E27FC236}">
                <a16:creationId xmlns:a16="http://schemas.microsoft.com/office/drawing/2014/main" id="{40E6A427-D388-4F1D-AB0E-25A6BF85409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8627" y="1028492"/>
            <a:ext cx="2895600" cy="401002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A5A39A6-2EA7-477E-A3CF-3F6423D50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4227" y="3440065"/>
            <a:ext cx="5099882" cy="29236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C909B43-9B1E-4D53-BC44-152210BDDDD5}"/>
              </a:ext>
            </a:extLst>
          </p:cNvPr>
          <p:cNvSpPr txBox="1"/>
          <p:nvPr/>
        </p:nvSpPr>
        <p:spPr>
          <a:xfrm>
            <a:off x="8153400" y="63119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75966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53852D-C4ED-48BC-808D-6A5766372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1218"/>
            <a:ext cx="7886700" cy="585488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МАТЕМАТИЧЕСКАЯ МОДЕЛЬ. ДИНАМИКА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D14E9EB9-6110-489A-BDCD-E2EA010769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Picture 2" descr="Схема">
            <a:extLst>
              <a:ext uri="{FF2B5EF4-FFF2-40B4-BE49-F238E27FC236}">
                <a16:creationId xmlns:a16="http://schemas.microsoft.com/office/drawing/2014/main" id="{B8CB951F-BBE5-4A30-AF84-9A7897362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161" y="885965"/>
            <a:ext cx="2949136" cy="408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Picture background">
            <a:extLst>
              <a:ext uri="{FF2B5EF4-FFF2-40B4-BE49-F238E27FC236}">
                <a16:creationId xmlns:a16="http://schemas.microsoft.com/office/drawing/2014/main" id="{A4F53B4B-5315-4660-A3EF-3D309ABC29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4" r="18463"/>
          <a:stretch/>
        </p:blipFill>
        <p:spPr bwMode="auto">
          <a:xfrm>
            <a:off x="6962857" y="3429000"/>
            <a:ext cx="1855561" cy="222720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31A767-A3F8-4D39-9548-D1E7EEB6DE62}"/>
                  </a:ext>
                </a:extLst>
              </p:cNvPr>
              <p:cNvSpPr txBox="1"/>
              <p:nvPr/>
            </p:nvSpPr>
            <p:spPr>
              <a:xfrm>
                <a:off x="3274290" y="953322"/>
                <a:ext cx="4179456" cy="2475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</m:t>
                                          </m:r>
                                        </m:e>
                                      </m:acc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acc>
                                        <m:accPr>
                                          <m:chr m:val="̇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</m:acc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ϑϑ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ϑ</m:t>
                                      </m:r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ϑδ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nary>
                                        <m:naryPr>
                                          <m:chr m:val="∑"/>
                                          <m:limLoc m:val="undOvr"/>
                                          <m:supHide m:val="on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ϑ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𝑠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ru-RU" sz="1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sSup>
                                            <m:sSup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p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sup>
                                      </m:sSubSup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=0;</m:t>
                                      </m:r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</m:acc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ϑ</m:t>
                                      </m:r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acc>
                                        <m:accPr>
                                          <m:chr m:val="̇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</m:acc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nary>
                                        <m:naryPr>
                                          <m:chr m:val="∑"/>
                                          <m:limLoc m:val="undOvr"/>
                                          <m:supHide m:val="on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ru-RU" sz="1400" i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V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ru-RU" sz="1400" i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y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𝑠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ru-RU" sz="1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sSup>
                                            <m:sSup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p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sup>
                                      </m:sSubSup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=0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sub>
                                      </m:sSub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den>
                                      </m:f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Sn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𝑆𝑛</m:t>
                                          </m:r>
                                        </m:sub>
                                      </m:sSub>
                                      <m:acc>
                                        <m:accPr>
                                          <m:chr m:val="̇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ω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Sn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ru-RU" sz="1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</m:t>
                                          </m:r>
                                        </m:sub>
                                        <m:sup>
                                          <m:sSup>
                                            <m:sSup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p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</m:t>
                                          </m:r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acc>
                                                <m:accPr>
                                                  <m:chr m:val="̇"/>
                                                  <m:ctrlP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ru-RU" sz="1400" i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y</m:t>
                                                  </m:r>
                                                </m:e>
                                              </m:acc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ru-RU" sz="1400" i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W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𝑉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δ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𝜗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𝜗</m:t>
                                          </m:r>
                                        </m:sub>
                                      </m:sSub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δ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𝜗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  </m:t>
                                      </m:r>
                                      <m:f>
                                        <m:f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Р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упр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х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РД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acc>
                                        <m:accPr>
                                          <m:chr m:val="̈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</m:e>
                                      </m:acc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acc>
                                        <m:accPr>
                                          <m:chr m:val="̇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</m:e>
                                      </m:acc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ϑ</m:t>
                                      </m:r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acc>
                                        <m:accPr>
                                          <m:chr m:val="̇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</m:t>
                                          </m:r>
                                        </m:e>
                                      </m:acc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acc>
                                        <m:accPr>
                                          <m:chr m:val="̇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</m:acc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31A767-A3F8-4D39-9548-D1E7EEB6D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290" y="953322"/>
                <a:ext cx="4179456" cy="2475678"/>
              </a:xfrm>
              <a:prstGeom prst="rect">
                <a:avLst/>
              </a:prstGeom>
              <a:blipFill>
                <a:blip r:embed="rId4"/>
                <a:stretch>
                  <a:fillRect r="-259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AF0D81C-FCB5-4C5A-A1BF-FF14F403C8FA}"/>
              </a:ext>
            </a:extLst>
          </p:cNvPr>
          <p:cNvSpPr txBox="1"/>
          <p:nvPr/>
        </p:nvSpPr>
        <p:spPr>
          <a:xfrm>
            <a:off x="523644" y="4923562"/>
            <a:ext cx="204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Динамическая модель РН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FA4A42-4F54-48AA-816A-EF36BBC2E104}"/>
              </a:ext>
            </a:extLst>
          </p:cNvPr>
          <p:cNvSpPr txBox="1"/>
          <p:nvPr/>
        </p:nvSpPr>
        <p:spPr>
          <a:xfrm>
            <a:off x="7044379" y="5707052"/>
            <a:ext cx="1692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Задача возвращения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71F959-5913-4149-B123-06276F8F0EAA}"/>
              </a:ext>
            </a:extLst>
          </p:cNvPr>
          <p:cNvSpPr txBox="1"/>
          <p:nvPr/>
        </p:nvSpPr>
        <p:spPr>
          <a:xfrm>
            <a:off x="8153400" y="63119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81EA49-D439-4793-A61A-9FD7A46935DC}"/>
                  </a:ext>
                </a:extLst>
              </p:cNvPr>
              <p:cNvSpPr txBox="1"/>
              <p:nvPr/>
            </p:nvSpPr>
            <p:spPr>
              <a:xfrm>
                <a:off x="3428077" y="3587808"/>
                <a:ext cx="341377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i="1" dirty="0"/>
                  <a:t>По предварительной оценке расчет аэроупругости на каждом шаге интегрирования на этапе баллистических расчетов дает до -</a:t>
                </a:r>
                <a:r>
                  <a:rPr lang="en-US" sz="1200" i="1" dirty="0"/>
                  <a:t>47</a:t>
                </a:r>
                <a:r>
                  <a:rPr lang="ru-RU" sz="1200" i="1" dirty="0"/>
                  <a:t>% </a:t>
                </a:r>
                <a:r>
                  <a:rPr lang="en-US" sz="1200" i="1" dirty="0"/>
                  <a:t>(3,8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°→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2,6</m:t>
                    </m:r>
                  </m:oMath>
                </a14:m>
                <a:r>
                  <a:rPr lang="en-US" sz="1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1200" i="1" dirty="0"/>
                  <a:t>) </a:t>
                </a:r>
                <a:r>
                  <a:rPr lang="ru-RU" sz="1200" i="1" dirty="0"/>
                  <a:t>разницы по поворотному углу управляющих органов, что коррелирует с данными завода-изготовителя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81EA49-D439-4793-A61A-9FD7A4693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077" y="3587808"/>
                <a:ext cx="3413772" cy="1384995"/>
              </a:xfrm>
              <a:prstGeom prst="rect">
                <a:avLst/>
              </a:prstGeom>
              <a:blipFill>
                <a:blip r:embed="rId5"/>
                <a:stretch>
                  <a:fillRect t="-881" r="-536" b="-22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332F4CE-6CF3-434B-B85F-39EFF278961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902" t="9421" r="7807" b="7045"/>
          <a:stretch/>
        </p:blipFill>
        <p:spPr>
          <a:xfrm>
            <a:off x="523644" y="5276849"/>
            <a:ext cx="6346677" cy="95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772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E5F772D-9135-4A6E-AF47-ACAE2F474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1218"/>
            <a:ext cx="7886700" cy="585488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МАТЕМАТИЧЕСКАЯ МОДЕЛЬ. КОЛЕБАНИЯ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9AA6BA6-C046-438F-AA51-E37423802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16" y="968888"/>
            <a:ext cx="3527316" cy="379376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901FC4-DC94-4C77-AEAA-820DB5A40D7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303034" y="2865772"/>
            <a:ext cx="3367227" cy="15231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4A8287-AD9A-4F69-9E8C-4314B4035F9E}"/>
              </a:ext>
            </a:extLst>
          </p:cNvPr>
          <p:cNvSpPr txBox="1"/>
          <p:nvPr/>
        </p:nvSpPr>
        <p:spPr>
          <a:xfrm>
            <a:off x="5518557" y="4417757"/>
            <a:ext cx="2467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Наглядное представление модели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879FF8-9A5B-4146-9000-E9EFE15A3674}"/>
              </a:ext>
            </a:extLst>
          </p:cNvPr>
          <p:cNvSpPr txBox="1"/>
          <p:nvPr/>
        </p:nvSpPr>
        <p:spPr>
          <a:xfrm>
            <a:off x="8153400" y="63119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0E5E1AF-66C8-4E41-B0DC-9A2500BC8035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8" t="6541" r="7871"/>
          <a:stretch/>
        </p:blipFill>
        <p:spPr bwMode="auto">
          <a:xfrm>
            <a:off x="4988570" y="916506"/>
            <a:ext cx="3527316" cy="13993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27A700-96EC-4EA2-8358-27A0C94043BD}"/>
              </a:ext>
            </a:extLst>
          </p:cNvPr>
          <p:cNvSpPr txBox="1"/>
          <p:nvPr/>
        </p:nvSpPr>
        <p:spPr>
          <a:xfrm>
            <a:off x="6186534" y="2244926"/>
            <a:ext cx="13516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Массовый расход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8E1F7C-88B7-45B8-AD80-F4EF007D0F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149" y="5214517"/>
            <a:ext cx="6695702" cy="104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792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A09FDF8-943E-4642-94E5-1E9F2194F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7886700" cy="632401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ПРИМЕНЕНИЕ МОДЕЛИ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BBD10BD-D45B-4AF3-93CC-7F0FD5090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325191"/>
              </p:ext>
            </p:extLst>
          </p:nvPr>
        </p:nvGraphicFramePr>
        <p:xfrm>
          <a:off x="508000" y="942109"/>
          <a:ext cx="8229600" cy="39605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9671">
                  <a:extLst>
                    <a:ext uri="{9D8B030D-6E8A-4147-A177-3AD203B41FA5}">
                      <a16:colId xmlns:a16="http://schemas.microsoft.com/office/drawing/2014/main" val="2066060571"/>
                    </a:ext>
                  </a:extLst>
                </a:gridCol>
                <a:gridCol w="4041029">
                  <a:extLst>
                    <a:ext uri="{9D8B030D-6E8A-4147-A177-3AD203B41FA5}">
                      <a16:colId xmlns:a16="http://schemas.microsoft.com/office/drawing/2014/main" val="129025210"/>
                    </a:ext>
                  </a:extLst>
                </a:gridCol>
                <a:gridCol w="397089">
                  <a:extLst>
                    <a:ext uri="{9D8B030D-6E8A-4147-A177-3AD203B41FA5}">
                      <a16:colId xmlns:a16="http://schemas.microsoft.com/office/drawing/2014/main" val="3630222872"/>
                    </a:ext>
                  </a:extLst>
                </a:gridCol>
                <a:gridCol w="684951">
                  <a:extLst>
                    <a:ext uri="{9D8B030D-6E8A-4147-A177-3AD203B41FA5}">
                      <a16:colId xmlns:a16="http://schemas.microsoft.com/office/drawing/2014/main" val="1468809360"/>
                    </a:ext>
                  </a:extLst>
                </a:gridCol>
                <a:gridCol w="485441">
                  <a:extLst>
                    <a:ext uri="{9D8B030D-6E8A-4147-A177-3AD203B41FA5}">
                      <a16:colId xmlns:a16="http://schemas.microsoft.com/office/drawing/2014/main" val="1254420361"/>
                    </a:ext>
                  </a:extLst>
                </a:gridCol>
                <a:gridCol w="2331419">
                  <a:extLst>
                    <a:ext uri="{9D8B030D-6E8A-4147-A177-3AD203B41FA5}">
                      <a16:colId xmlns:a16="http://schemas.microsoft.com/office/drawing/2014/main" val="1257418002"/>
                    </a:ext>
                  </a:extLst>
                </a:gridCol>
              </a:tblGrid>
              <a:tr h="131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№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Наименование работы, ее вид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Форма работы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Фамилия соавторов работ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extLst>
                  <a:ext uri="{0D108BD9-81ED-4DB2-BD59-A6C34878D82A}">
                    <a16:rowId xmlns:a16="http://schemas.microsoft.com/office/drawing/2014/main" val="769028932"/>
                  </a:ext>
                </a:extLst>
              </a:tr>
              <a:tr h="131690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Печатные научные работы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585235"/>
                  </a:ext>
                </a:extLst>
              </a:tr>
              <a:tr h="2590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+mj-lt"/>
                        </a:rPr>
                        <a:t>1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Исследование динамики возмущенного движения многоразового упругого блока ракеты-носителя на участке посадки</a:t>
                      </a:r>
                      <a:endParaRPr lang="ru-RU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Статья</a:t>
                      </a:r>
                      <a:r>
                        <a:rPr lang="ru-RU" sz="1100" dirty="0">
                          <a:effectLst/>
                          <a:latin typeface="+mj-lt"/>
                        </a:rPr>
                        <a:t> ВАК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 err="1">
                          <a:effectLst/>
                          <a:latin typeface="+mj-lt"/>
                        </a:rPr>
                        <a:t>Статья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Сметана В.В. Давыдов И.Е. </a:t>
                      </a:r>
                      <a:r>
                        <a:rPr lang="en-US" sz="1100">
                          <a:effectLst/>
                          <a:latin typeface="+mj-lt"/>
                        </a:rPr>
                        <a:t>Лазарев А.А.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Сметана В.В. Давыдов И.Е. </a:t>
                      </a:r>
                      <a:r>
                        <a:rPr lang="en-US" sz="1100" dirty="0" err="1">
                          <a:effectLst/>
                          <a:latin typeface="+mj-lt"/>
                        </a:rPr>
                        <a:t>Лазарев</a:t>
                      </a:r>
                      <a:r>
                        <a:rPr lang="en-US" sz="1100" dirty="0">
                          <a:effectLst/>
                          <a:latin typeface="+mj-lt"/>
                        </a:rPr>
                        <a:t> А.А.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extLst>
                  <a:ext uri="{0D108BD9-81ED-4DB2-BD59-A6C34878D82A}">
                    <a16:rowId xmlns:a16="http://schemas.microsoft.com/office/drawing/2014/main" val="2314135960"/>
                  </a:ext>
                </a:extLst>
              </a:tr>
              <a:tr h="2590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</a:t>
                      </a: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Расчёт аэродинамических характеристик возвращаемого блока ракеты-носителя типа «Союз-2-1а» при моделировании его возмущенного движения</a:t>
                      </a: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Статья ВАК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Статья</a:t>
                      </a: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Сметана В.В. Давыдов И.Е. Глушков С.В.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Сметана В.В. Давыдов И.Е. Глушков С.В.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extLst>
                  <a:ext uri="{0D108BD9-81ED-4DB2-BD59-A6C34878D82A}">
                    <a16:rowId xmlns:a16="http://schemas.microsoft.com/office/drawing/2014/main" val="2422627947"/>
                  </a:ext>
                </a:extLst>
              </a:tr>
              <a:tr h="2590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3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 </a:t>
                      </a:r>
                      <a:r>
                        <a:rPr lang="ru-RU" sz="11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Исследование динамических характеристик   экспериментальной модели ракеты   с пассивной аэродинамической стабилизацией</a:t>
                      </a:r>
                      <a:endParaRPr lang="ru-RU" sz="11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 err="1">
                          <a:effectLst/>
                          <a:latin typeface="+mj-lt"/>
                        </a:rPr>
                        <a:t>Материалы</a:t>
                      </a:r>
                      <a:r>
                        <a:rPr lang="en-US" sz="11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+mj-lt"/>
                        </a:rPr>
                        <a:t>конференций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Майоров В.В. Соколова А.О. </a:t>
                      </a:r>
                      <a:r>
                        <a:rPr lang="en-US" sz="1100">
                          <a:effectLst/>
                          <a:latin typeface="+mj-lt"/>
                        </a:rPr>
                        <a:t>Сметана В.В.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Майоров В.В. Соколова А.О. </a:t>
                      </a:r>
                      <a:r>
                        <a:rPr lang="en-US" sz="1100">
                          <a:effectLst/>
                          <a:latin typeface="+mj-lt"/>
                        </a:rPr>
                        <a:t>Сметана В.В.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extLst>
                  <a:ext uri="{0D108BD9-81ED-4DB2-BD59-A6C34878D82A}">
                    <a16:rowId xmlns:a16="http://schemas.microsoft.com/office/drawing/2014/main" val="2912185996"/>
                  </a:ext>
                </a:extLst>
              </a:tr>
              <a:tr h="2590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4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Исследование динамики возмущенного движения многоразового упругого блока ракеты носителя на участке посадки</a:t>
                      </a:r>
                      <a:endParaRPr lang="ru-RU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Сметана В.В. Лазарев А.А. </a:t>
                      </a:r>
                      <a:r>
                        <a:rPr lang="en-US" sz="1100">
                          <a:effectLst/>
                          <a:latin typeface="+mj-lt"/>
                        </a:rPr>
                        <a:t>Давыдов И.Е.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Сметана В.В. Лазарев А.А. </a:t>
                      </a:r>
                      <a:r>
                        <a:rPr lang="en-US" sz="1100" dirty="0" err="1">
                          <a:effectLst/>
                          <a:latin typeface="+mj-lt"/>
                        </a:rPr>
                        <a:t>Давыдов</a:t>
                      </a:r>
                      <a:r>
                        <a:rPr lang="en-US" sz="1100" dirty="0">
                          <a:effectLst/>
                          <a:latin typeface="+mj-lt"/>
                        </a:rPr>
                        <a:t> И.Е.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extLst>
                  <a:ext uri="{0D108BD9-81ED-4DB2-BD59-A6C34878D82A}">
                    <a16:rowId xmlns:a16="http://schemas.microsoft.com/office/drawing/2014/main" val="1340443952"/>
                  </a:ext>
                </a:extLst>
              </a:tr>
              <a:tr h="1316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5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Расчет динамики возмущенного движения многоразового ракетного блока</a:t>
                      </a:r>
                      <a:endParaRPr lang="ru-RU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Сметана В.В. Ли Ц. </a:t>
                      </a:r>
                      <a:r>
                        <a:rPr lang="en-US" sz="1100">
                          <a:effectLst/>
                          <a:latin typeface="+mj-lt"/>
                        </a:rPr>
                        <a:t>Давыдов И.Е.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Сметана В.В. Ли Ц. </a:t>
                      </a:r>
                      <a:r>
                        <a:rPr lang="en-US" sz="1100">
                          <a:effectLst/>
                          <a:latin typeface="+mj-lt"/>
                        </a:rPr>
                        <a:t>Давыдов И.Е.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extLst>
                  <a:ext uri="{0D108BD9-81ED-4DB2-BD59-A6C34878D82A}">
                    <a16:rowId xmlns:a16="http://schemas.microsoft.com/office/drawing/2014/main" val="1806294487"/>
                  </a:ext>
                </a:extLst>
              </a:tr>
              <a:tr h="2590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6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Проектирование и расчет полетных параметров ракеты-носителя с многоразовым ракетным блоком</a:t>
                      </a:r>
                      <a:endParaRPr lang="ru-RU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Ли Ц. Сметана В.В. </a:t>
                      </a:r>
                      <a:r>
                        <a:rPr lang="en-US" sz="1100" dirty="0" err="1">
                          <a:effectLst/>
                          <a:latin typeface="+mj-lt"/>
                        </a:rPr>
                        <a:t>Давыдов</a:t>
                      </a:r>
                      <a:r>
                        <a:rPr lang="en-US" sz="1100" dirty="0">
                          <a:effectLst/>
                          <a:latin typeface="+mj-lt"/>
                        </a:rPr>
                        <a:t> И.Е.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Ли Ц. Сметана В.В. </a:t>
                      </a:r>
                      <a:r>
                        <a:rPr lang="en-US" sz="1100">
                          <a:effectLst/>
                          <a:latin typeface="+mj-lt"/>
                        </a:rPr>
                        <a:t>Давыдов И.Е.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extLst>
                  <a:ext uri="{0D108BD9-81ED-4DB2-BD59-A6C34878D82A}">
                    <a16:rowId xmlns:a16="http://schemas.microsoft.com/office/drawing/2014/main" val="2573794050"/>
                  </a:ext>
                </a:extLst>
              </a:tr>
              <a:tr h="2590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7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Расчет динамики возмущенного движения ракеты-носителя легкого класса с учетом ветрового нагружения и упругости конструкции</a:t>
                      </a:r>
                      <a:endParaRPr lang="ru-RU" sz="11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Сметана В.В. Хайруллин И.И. Глушков С.В. Давыдов И.Е.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Сметана В.В. Хайруллин И.И. Глушков С.В. Давыдов И.Е.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extLst>
                  <a:ext uri="{0D108BD9-81ED-4DB2-BD59-A6C34878D82A}">
                    <a16:rowId xmlns:a16="http://schemas.microsoft.com/office/drawing/2014/main" val="1551344510"/>
                  </a:ext>
                </a:extLst>
              </a:tr>
              <a:tr h="2590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8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Проектирование многоразовой ракеты-носителя легкого класса</a:t>
                      </a:r>
                      <a:endParaRPr lang="ru-RU" sz="11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Сметана В.В. Хайруллин И.И. </a:t>
                      </a:r>
                      <a:r>
                        <a:rPr lang="en-US" sz="1100">
                          <a:effectLst/>
                          <a:latin typeface="+mj-lt"/>
                        </a:rPr>
                        <a:t>Давыдов И.Е.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Сметана В.В. Хайруллин И.И. </a:t>
                      </a:r>
                      <a:r>
                        <a:rPr lang="en-US" sz="1100" dirty="0" err="1">
                          <a:effectLst/>
                          <a:latin typeface="+mj-lt"/>
                        </a:rPr>
                        <a:t>Давыдов</a:t>
                      </a:r>
                      <a:r>
                        <a:rPr lang="en-US" sz="1100" dirty="0">
                          <a:effectLst/>
                          <a:latin typeface="+mj-lt"/>
                        </a:rPr>
                        <a:t> И.Е.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extLst>
                  <a:ext uri="{0D108BD9-81ED-4DB2-BD59-A6C34878D82A}">
                    <a16:rowId xmlns:a16="http://schemas.microsoft.com/office/drawing/2014/main" val="2144723098"/>
                  </a:ext>
                </a:extLst>
              </a:tr>
              <a:tr h="1316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9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Исследование динамических характеристик тяжелой ракеты-носителя</a:t>
                      </a:r>
                      <a:endParaRPr lang="ru-RU" sz="1100" dirty="0">
                        <a:solidFill>
                          <a:srgbClr val="FF0000"/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 err="1">
                          <a:effectLst/>
                          <a:latin typeface="+mj-lt"/>
                        </a:rPr>
                        <a:t>Материалы</a:t>
                      </a:r>
                      <a:r>
                        <a:rPr lang="en-US" sz="11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+mj-lt"/>
                        </a:rPr>
                        <a:t>конференций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Сметана В.В. Давыдов И.Е.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Сметана В.В. Давыдов И.Е.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extLst>
                  <a:ext uri="{0D108BD9-81ED-4DB2-BD59-A6C34878D82A}">
                    <a16:rowId xmlns:a16="http://schemas.microsoft.com/office/drawing/2014/main" val="1567164630"/>
                  </a:ext>
                </a:extLst>
              </a:tr>
            </a:tbl>
          </a:graphicData>
        </a:graphic>
      </p:graphicFrame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D516DC0-2216-4292-9B98-7713581E95DD}"/>
              </a:ext>
            </a:extLst>
          </p:cNvPr>
          <p:cNvSpPr/>
          <p:nvPr/>
        </p:nvSpPr>
        <p:spPr>
          <a:xfrm>
            <a:off x="6063672" y="5054046"/>
            <a:ext cx="350982" cy="166255"/>
          </a:xfrm>
          <a:prstGeom prst="rect">
            <a:avLst/>
          </a:prstGeom>
          <a:solidFill>
            <a:srgbClr val="33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565563-0301-4D0E-B001-21EB38207C41}"/>
              </a:ext>
            </a:extLst>
          </p:cNvPr>
          <p:cNvSpPr/>
          <p:nvPr/>
        </p:nvSpPr>
        <p:spPr>
          <a:xfrm>
            <a:off x="6063672" y="5287819"/>
            <a:ext cx="350982" cy="166255"/>
          </a:xfrm>
          <a:prstGeom prst="rect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A29C8DA-4C28-4445-8B09-796FBC5343B8}"/>
              </a:ext>
            </a:extLst>
          </p:cNvPr>
          <p:cNvSpPr/>
          <p:nvPr/>
        </p:nvSpPr>
        <p:spPr>
          <a:xfrm>
            <a:off x="6063672" y="5551052"/>
            <a:ext cx="350982" cy="1662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1AA25A-A730-4F54-99EC-7D79F2126304}"/>
              </a:ext>
            </a:extLst>
          </p:cNvPr>
          <p:cNvSpPr txBox="1"/>
          <p:nvPr/>
        </p:nvSpPr>
        <p:spPr>
          <a:xfrm>
            <a:off x="6493163" y="5006368"/>
            <a:ext cx="13837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РН легкого класса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3D4F63-BC30-44CE-8430-B7CA6DD13D85}"/>
              </a:ext>
            </a:extLst>
          </p:cNvPr>
          <p:cNvSpPr txBox="1"/>
          <p:nvPr/>
        </p:nvSpPr>
        <p:spPr>
          <a:xfrm>
            <a:off x="6493163" y="5257114"/>
            <a:ext cx="14975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РН среднего класса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96CD53-257B-4F11-A446-8E0F71372686}"/>
              </a:ext>
            </a:extLst>
          </p:cNvPr>
          <p:cNvSpPr txBox="1"/>
          <p:nvPr/>
        </p:nvSpPr>
        <p:spPr>
          <a:xfrm>
            <a:off x="6493163" y="5518724"/>
            <a:ext cx="15055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РН тяжелого класса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8E27D4-16E7-4536-9795-0FAC40E2CB55}"/>
              </a:ext>
            </a:extLst>
          </p:cNvPr>
          <p:cNvSpPr txBox="1"/>
          <p:nvPr/>
        </p:nvSpPr>
        <p:spPr>
          <a:xfrm>
            <a:off x="8112304" y="631750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78279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B19C5F7-F57B-4815-BDDE-E58C866A8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454"/>
            <a:ext cx="7886700" cy="585488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ЗАДАЧА ПАДЕНИЯ</a:t>
            </a:r>
            <a:r>
              <a:rPr lang="en-US" sz="2000" dirty="0">
                <a:solidFill>
                  <a:schemeClr val="bg1"/>
                </a:solidFill>
              </a:rPr>
              <a:t> / </a:t>
            </a:r>
            <a:r>
              <a:rPr lang="ru-RU" sz="2000" dirty="0">
                <a:solidFill>
                  <a:schemeClr val="bg1"/>
                </a:solidFill>
              </a:rPr>
              <a:t>ВОЗВРАЩЕНИЯ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F19A336-6B32-46E7-8516-61302CC53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40129" y="863892"/>
            <a:ext cx="4225521" cy="219123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7E42E6D-5F69-463F-85BD-8A5B1E5C2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642" y="3418277"/>
            <a:ext cx="2413398" cy="225990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F3E68BB-D0D8-4282-B9D4-C6A9C6BC7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0698" y="3449375"/>
            <a:ext cx="3314944" cy="22180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68F03A-566B-4730-ACB0-99960CB07942}"/>
              </a:ext>
            </a:extLst>
          </p:cNvPr>
          <p:cNvSpPr txBox="1"/>
          <p:nvPr/>
        </p:nvSpPr>
        <p:spPr>
          <a:xfrm>
            <a:off x="8074204" y="631750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10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FD7506C-F64F-4CB0-AB8E-7B0BE2D610AE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65651" y="863892"/>
            <a:ext cx="3116349" cy="21790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CA907E-3524-4A54-8CCB-E22C4390A7A4}"/>
              </a:ext>
            </a:extLst>
          </p:cNvPr>
          <p:cNvSpPr txBox="1"/>
          <p:nvPr/>
        </p:nvSpPr>
        <p:spPr>
          <a:xfrm>
            <a:off x="2208923" y="3058614"/>
            <a:ext cx="4566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+mj-lt"/>
              </a:rPr>
              <a:t>Решение задачи анализа падения центрального блока «Союз-2.1а»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B81736-D519-4C64-9F01-0BD153CF3646}"/>
              </a:ext>
            </a:extLst>
          </p:cNvPr>
          <p:cNvSpPr txBox="1"/>
          <p:nvPr/>
        </p:nvSpPr>
        <p:spPr>
          <a:xfrm>
            <a:off x="2208923" y="5720372"/>
            <a:ext cx="4958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+mj-lt"/>
              </a:rPr>
              <a:t>Решение задачи возвращения ступени и подбора параметров управления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2460387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59FEC7-395A-47CB-BAE9-B2356320B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0827"/>
            <a:ext cx="7886700" cy="541654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ЗАДАЧА МОДЕЛИРОВАНИЯ СРЕДЫ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FFCE06-8EF6-45FF-B409-776DA3B64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105" y="1264349"/>
            <a:ext cx="6930287" cy="36194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5">
                <a:extLst>
                  <a:ext uri="{FF2B5EF4-FFF2-40B4-BE49-F238E27FC236}">
                    <a16:creationId xmlns:a16="http://schemas.microsoft.com/office/drawing/2014/main" id="{76D89027-B4D2-458D-9EB1-4AD651D133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7032639"/>
                  </p:ext>
                </p:extLst>
              </p:nvPr>
            </p:nvGraphicFramePr>
            <p:xfrm>
              <a:off x="1700212" y="792481"/>
              <a:ext cx="5934075" cy="402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89330">
                      <a:extLst>
                        <a:ext uri="{9D8B030D-6E8A-4147-A177-3AD203B41FA5}">
                          <a16:colId xmlns:a16="http://schemas.microsoft.com/office/drawing/2014/main" val="289506087"/>
                        </a:ext>
                      </a:extLst>
                    </a:gridCol>
                    <a:gridCol w="989330">
                      <a:extLst>
                        <a:ext uri="{9D8B030D-6E8A-4147-A177-3AD203B41FA5}">
                          <a16:colId xmlns:a16="http://schemas.microsoft.com/office/drawing/2014/main" val="2160613171"/>
                        </a:ext>
                      </a:extLst>
                    </a:gridCol>
                    <a:gridCol w="989330">
                      <a:extLst>
                        <a:ext uri="{9D8B030D-6E8A-4147-A177-3AD203B41FA5}">
                          <a16:colId xmlns:a16="http://schemas.microsoft.com/office/drawing/2014/main" val="2470448851"/>
                        </a:ext>
                      </a:extLst>
                    </a:gridCol>
                    <a:gridCol w="988695">
                      <a:extLst>
                        <a:ext uri="{9D8B030D-6E8A-4147-A177-3AD203B41FA5}">
                          <a16:colId xmlns:a16="http://schemas.microsoft.com/office/drawing/2014/main" val="1175564983"/>
                        </a:ext>
                      </a:extLst>
                    </a:gridCol>
                    <a:gridCol w="988695">
                      <a:extLst>
                        <a:ext uri="{9D8B030D-6E8A-4147-A177-3AD203B41FA5}">
                          <a16:colId xmlns:a16="http://schemas.microsoft.com/office/drawing/2014/main" val="4278869669"/>
                        </a:ext>
                      </a:extLst>
                    </a:gridCol>
                    <a:gridCol w="988695">
                      <a:extLst>
                        <a:ext uri="{9D8B030D-6E8A-4147-A177-3AD203B41FA5}">
                          <a16:colId xmlns:a16="http://schemas.microsoft.com/office/drawing/2014/main" val="31483955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ru-RU" sz="1000">
                                  <a:effectLst/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ru-RU" sz="1000">
                                  <a:effectLst/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</m:oMath>
                          </a14:m>
                          <a:r>
                            <a:rPr lang="ru-RU" sz="1000">
                              <a:effectLst/>
                            </a:rPr>
                            <a:t>, м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0,000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0,050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0,100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0,150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0,200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9946159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ru-RU" sz="1000">
                                  <a:effectLst/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ru-RU" sz="1000">
                                  <a:effectLst/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oMath>
                          </a14:m>
                          <a:r>
                            <a:rPr lang="ru-RU" sz="1000">
                              <a:effectLst/>
                            </a:rPr>
                            <a:t>, град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0,09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0,20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0,29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 dirty="0">
                              <a:effectLst/>
                            </a:rPr>
                            <a:t>0,39</a:t>
                          </a:r>
                          <a:endParaRPr lang="ru-RU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06530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5">
                <a:extLst>
                  <a:ext uri="{FF2B5EF4-FFF2-40B4-BE49-F238E27FC236}">
                    <a16:creationId xmlns:a16="http://schemas.microsoft.com/office/drawing/2014/main" id="{76D89027-B4D2-458D-9EB1-4AD651D133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7032639"/>
                  </p:ext>
                </p:extLst>
              </p:nvPr>
            </p:nvGraphicFramePr>
            <p:xfrm>
              <a:off x="1700212" y="792481"/>
              <a:ext cx="5934075" cy="402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89330">
                      <a:extLst>
                        <a:ext uri="{9D8B030D-6E8A-4147-A177-3AD203B41FA5}">
                          <a16:colId xmlns:a16="http://schemas.microsoft.com/office/drawing/2014/main" val="289506087"/>
                        </a:ext>
                      </a:extLst>
                    </a:gridCol>
                    <a:gridCol w="989330">
                      <a:extLst>
                        <a:ext uri="{9D8B030D-6E8A-4147-A177-3AD203B41FA5}">
                          <a16:colId xmlns:a16="http://schemas.microsoft.com/office/drawing/2014/main" val="2160613171"/>
                        </a:ext>
                      </a:extLst>
                    </a:gridCol>
                    <a:gridCol w="989330">
                      <a:extLst>
                        <a:ext uri="{9D8B030D-6E8A-4147-A177-3AD203B41FA5}">
                          <a16:colId xmlns:a16="http://schemas.microsoft.com/office/drawing/2014/main" val="2470448851"/>
                        </a:ext>
                      </a:extLst>
                    </a:gridCol>
                    <a:gridCol w="988695">
                      <a:extLst>
                        <a:ext uri="{9D8B030D-6E8A-4147-A177-3AD203B41FA5}">
                          <a16:colId xmlns:a16="http://schemas.microsoft.com/office/drawing/2014/main" val="1175564983"/>
                        </a:ext>
                      </a:extLst>
                    </a:gridCol>
                    <a:gridCol w="988695">
                      <a:extLst>
                        <a:ext uri="{9D8B030D-6E8A-4147-A177-3AD203B41FA5}">
                          <a16:colId xmlns:a16="http://schemas.microsoft.com/office/drawing/2014/main" val="4278869669"/>
                        </a:ext>
                      </a:extLst>
                    </a:gridCol>
                    <a:gridCol w="988695">
                      <a:extLst>
                        <a:ext uri="{9D8B030D-6E8A-4147-A177-3AD203B41FA5}">
                          <a16:colId xmlns:a16="http://schemas.microsoft.com/office/drawing/2014/main" val="314839556"/>
                        </a:ext>
                      </a:extLst>
                    </a:gridCol>
                  </a:tblGrid>
                  <a:tr h="20104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13" t="-6061" r="-500613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0,000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0,050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0,100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0,150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0,200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99461590"/>
                      </a:ext>
                    </a:extLst>
                  </a:tr>
                  <a:tr h="20104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13" t="-106061" r="-500613" b="-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0,09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0,20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0,29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 dirty="0">
                              <a:effectLst/>
                            </a:rPr>
                            <a:t>0,39</a:t>
                          </a:r>
                          <a:endParaRPr lang="ru-RU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06530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71149983-4013-441A-8341-89260DAFFE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7912609"/>
                  </p:ext>
                </p:extLst>
              </p:nvPr>
            </p:nvGraphicFramePr>
            <p:xfrm>
              <a:off x="1700212" y="4953571"/>
              <a:ext cx="5934074" cy="140728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83826">
                      <a:extLst>
                        <a:ext uri="{9D8B030D-6E8A-4147-A177-3AD203B41FA5}">
                          <a16:colId xmlns:a16="http://schemas.microsoft.com/office/drawing/2014/main" val="1095182154"/>
                        </a:ext>
                      </a:extLst>
                    </a:gridCol>
                    <a:gridCol w="1483826">
                      <a:extLst>
                        <a:ext uri="{9D8B030D-6E8A-4147-A177-3AD203B41FA5}">
                          <a16:colId xmlns:a16="http://schemas.microsoft.com/office/drawing/2014/main" val="4252293190"/>
                        </a:ext>
                      </a:extLst>
                    </a:gridCol>
                    <a:gridCol w="1483211">
                      <a:extLst>
                        <a:ext uri="{9D8B030D-6E8A-4147-A177-3AD203B41FA5}">
                          <a16:colId xmlns:a16="http://schemas.microsoft.com/office/drawing/2014/main" val="505646067"/>
                        </a:ext>
                      </a:extLst>
                    </a:gridCol>
                    <a:gridCol w="1483211">
                      <a:extLst>
                        <a:ext uri="{9D8B030D-6E8A-4147-A177-3AD203B41FA5}">
                          <a16:colId xmlns:a16="http://schemas.microsoft.com/office/drawing/2014/main" val="3308412347"/>
                        </a:ext>
                      </a:extLst>
                    </a:gridCol>
                  </a:tblGrid>
                  <a:tr h="200025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ru-RU" sz="1000">
                                  <a:effectLst/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ru-RU" sz="1000">
                                  <a:effectLst/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oMath>
                          </a14:m>
                          <a:r>
                            <a:rPr lang="ru-RU" sz="1000" dirty="0">
                              <a:effectLst/>
                            </a:rPr>
                            <a:t>, град</a:t>
                          </a:r>
                          <a:endParaRPr lang="ru-RU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000">
                                      <a:effectLst/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b>
                                  <m:r>
                                    <a:rPr lang="ru-RU" sz="1000">
                                      <a:effectLst/>
                                      <a:latin typeface="Cambria Math" panose="02040503050406030204" pitchFamily="18" charset="0"/>
                                    </a:rPr>
                                    <m:t>ном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1000">
                              <a:effectLst/>
                            </a:rPr>
                            <a:t>, град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8901557"/>
                      </a:ext>
                    </a:extLst>
                  </a:tr>
                  <a:tr h="200025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0,5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 dirty="0">
                              <a:effectLst/>
                            </a:rPr>
                            <a:t>1</a:t>
                          </a:r>
                          <a:endParaRPr lang="ru-RU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3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2121729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</a:t>
                          </a:r>
                          <a:r>
                            <a:rPr lang="en-US" sz="1000">
                              <a:effectLst/>
                            </a:rPr>
                            <a:t>,00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6377893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0,09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26,7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12,8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7,8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1709766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0,2</a:t>
                          </a:r>
                          <a:r>
                            <a:rPr lang="en-US" sz="1000">
                              <a:effectLst/>
                            </a:rPr>
                            <a:t>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47,8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21,0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8,8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9077665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0,29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51,5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36,0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11,1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057329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0,39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39,7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18,6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 dirty="0">
                              <a:effectLst/>
                            </a:rPr>
                            <a:t>-7,4</a:t>
                          </a:r>
                          <a:r>
                            <a:rPr lang="en-US" sz="1000" dirty="0">
                              <a:effectLst/>
                            </a:rPr>
                            <a:t>%</a:t>
                          </a:r>
                          <a:endParaRPr lang="ru-RU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631875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71149983-4013-441A-8341-89260DAFFE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7912609"/>
                  </p:ext>
                </p:extLst>
              </p:nvPr>
            </p:nvGraphicFramePr>
            <p:xfrm>
              <a:off x="1700212" y="4953571"/>
              <a:ext cx="5934074" cy="140728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83826">
                      <a:extLst>
                        <a:ext uri="{9D8B030D-6E8A-4147-A177-3AD203B41FA5}">
                          <a16:colId xmlns:a16="http://schemas.microsoft.com/office/drawing/2014/main" val="1095182154"/>
                        </a:ext>
                      </a:extLst>
                    </a:gridCol>
                    <a:gridCol w="1483826">
                      <a:extLst>
                        <a:ext uri="{9D8B030D-6E8A-4147-A177-3AD203B41FA5}">
                          <a16:colId xmlns:a16="http://schemas.microsoft.com/office/drawing/2014/main" val="4252293190"/>
                        </a:ext>
                      </a:extLst>
                    </a:gridCol>
                    <a:gridCol w="1483211">
                      <a:extLst>
                        <a:ext uri="{9D8B030D-6E8A-4147-A177-3AD203B41FA5}">
                          <a16:colId xmlns:a16="http://schemas.microsoft.com/office/drawing/2014/main" val="505646067"/>
                        </a:ext>
                      </a:extLst>
                    </a:gridCol>
                    <a:gridCol w="1483211">
                      <a:extLst>
                        <a:ext uri="{9D8B030D-6E8A-4147-A177-3AD203B41FA5}">
                          <a16:colId xmlns:a16="http://schemas.microsoft.com/office/drawing/2014/main" val="3308412347"/>
                        </a:ext>
                      </a:extLst>
                    </a:gridCol>
                  </a:tblGrid>
                  <a:tr h="201041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410" t="-1515" r="-301230" b="-268182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33516" t="-3030" r="-547" b="-63636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8901557"/>
                      </a:ext>
                    </a:extLst>
                  </a:tr>
                  <a:tr h="201041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0,5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 dirty="0">
                              <a:effectLst/>
                            </a:rPr>
                            <a:t>1</a:t>
                          </a:r>
                          <a:endParaRPr lang="ru-RU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3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21217290"/>
                      </a:ext>
                    </a:extLst>
                  </a:tr>
                  <a:tr h="20104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</a:t>
                          </a:r>
                          <a:r>
                            <a:rPr lang="en-US" sz="1000">
                              <a:effectLst/>
                            </a:rPr>
                            <a:t>,00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63778930"/>
                      </a:ext>
                    </a:extLst>
                  </a:tr>
                  <a:tr h="20104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0,09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26,7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12,8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7,8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17097661"/>
                      </a:ext>
                    </a:extLst>
                  </a:tr>
                  <a:tr h="20104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0,2</a:t>
                          </a:r>
                          <a:r>
                            <a:rPr lang="en-US" sz="1000">
                              <a:effectLst/>
                            </a:rPr>
                            <a:t>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47,8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21,0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8,8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90776655"/>
                      </a:ext>
                    </a:extLst>
                  </a:tr>
                  <a:tr h="20104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0,29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51,5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36,0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11,1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05732911"/>
                      </a:ext>
                    </a:extLst>
                  </a:tr>
                  <a:tr h="20104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0,39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39,7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18,6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 dirty="0">
                              <a:effectLst/>
                            </a:rPr>
                            <a:t>-7,4</a:t>
                          </a:r>
                          <a:r>
                            <a:rPr lang="en-US" sz="1000" dirty="0">
                              <a:effectLst/>
                            </a:rPr>
                            <a:t>%</a:t>
                          </a:r>
                          <a:endParaRPr lang="ru-RU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631875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0FFD743-ADF4-4C73-942E-22911DCA2CF5}"/>
              </a:ext>
            </a:extLst>
          </p:cNvPr>
          <p:cNvSpPr txBox="1"/>
          <p:nvPr/>
        </p:nvSpPr>
        <p:spPr>
          <a:xfrm>
            <a:off x="8074204" y="6317506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33707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8837F93-1FB9-4819-8894-C33D43766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1218"/>
            <a:ext cx="7886700" cy="585488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АНАЛИЗ ВЛИЯНИЯ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493B88-AFEC-4C23-A896-8D3E31525B1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23709" y="818910"/>
            <a:ext cx="6296581" cy="36676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EA6962-C503-4211-839B-55B72F4E62A8}"/>
              </a:ext>
            </a:extLst>
          </p:cNvPr>
          <p:cNvSpPr txBox="1"/>
          <p:nvPr/>
        </p:nvSpPr>
        <p:spPr>
          <a:xfrm>
            <a:off x="628650" y="4508718"/>
            <a:ext cx="8362949" cy="16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Применяя ранее найденные процентные соотношения для увеличения производных коэффициента подъемной силы получим разброс 0..2,071 км в определении района падения. В случае успешного применения системы управления для компенсации этого влияния, существует риск потери большого количества топлива для посадки в целевую точку, что доказывает необходимость учета аэроупругости уже на этапе баллистических расчетов.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90E8F7-6A76-4F72-8A0B-52E98E1428CF}"/>
              </a:ext>
            </a:extLst>
          </p:cNvPr>
          <p:cNvSpPr txBox="1"/>
          <p:nvPr/>
        </p:nvSpPr>
        <p:spPr>
          <a:xfrm>
            <a:off x="8074204" y="631750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39913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153ED-2DF0-40B8-B6D0-C848008D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81813"/>
            <a:ext cx="7886700" cy="632401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ЗАДАЧА ВЕРИФИКАЦИИ В </a:t>
            </a:r>
            <a:r>
              <a:rPr lang="en-US" sz="2000" dirty="0">
                <a:solidFill>
                  <a:schemeClr val="bg1"/>
                </a:solidFill>
              </a:rPr>
              <a:t>CAE </a:t>
            </a:r>
            <a:r>
              <a:rPr lang="ru-RU" sz="2000" dirty="0">
                <a:solidFill>
                  <a:schemeClr val="bg1"/>
                </a:solidFill>
              </a:rPr>
              <a:t>ПАКЕТАХ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E49DF4F-E97A-4823-BE2A-84AD35C578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909526"/>
            <a:ext cx="4153459" cy="1905000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CBAFF0-2850-42D4-AB81-FAB7882819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788" y="3005149"/>
            <a:ext cx="6732143" cy="311756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C756941-9428-4761-92F1-897F35BD6CB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282" y="909526"/>
            <a:ext cx="3479165" cy="1905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9C8F14C8-22A8-4F5C-A8CB-385A76071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855697"/>
              </p:ext>
            </p:extLst>
          </p:nvPr>
        </p:nvGraphicFramePr>
        <p:xfrm>
          <a:off x="4349924" y="5715428"/>
          <a:ext cx="4375535" cy="4072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76461">
                  <a:extLst>
                    <a:ext uri="{9D8B030D-6E8A-4147-A177-3AD203B41FA5}">
                      <a16:colId xmlns:a16="http://schemas.microsoft.com/office/drawing/2014/main" val="628869656"/>
                    </a:ext>
                  </a:extLst>
                </a:gridCol>
                <a:gridCol w="666134">
                  <a:extLst>
                    <a:ext uri="{9D8B030D-6E8A-4147-A177-3AD203B41FA5}">
                      <a16:colId xmlns:a16="http://schemas.microsoft.com/office/drawing/2014/main" val="2587417124"/>
                    </a:ext>
                  </a:extLst>
                </a:gridCol>
                <a:gridCol w="666806">
                  <a:extLst>
                    <a:ext uri="{9D8B030D-6E8A-4147-A177-3AD203B41FA5}">
                      <a16:colId xmlns:a16="http://schemas.microsoft.com/office/drawing/2014/main" val="1061787484"/>
                    </a:ext>
                  </a:extLst>
                </a:gridCol>
                <a:gridCol w="666134">
                  <a:extLst>
                    <a:ext uri="{9D8B030D-6E8A-4147-A177-3AD203B41FA5}">
                      <a16:colId xmlns:a16="http://schemas.microsoft.com/office/drawing/2014/main" val="11650739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Метод получения данных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1 тон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2 тон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3 тон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578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Погрешность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  1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7%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 2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7%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 7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1%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8869079"/>
                  </a:ext>
                </a:extLst>
              </a:tr>
            </a:tbl>
          </a:graphicData>
        </a:graphic>
      </p:graphicFrame>
      <p:pic>
        <p:nvPicPr>
          <p:cNvPr id="2050" name="Picture 2" descr="Aeroelasticity | SDA Software">
            <a:extLst>
              <a:ext uri="{FF2B5EF4-FFF2-40B4-BE49-F238E27FC236}">
                <a16:creationId xmlns:a16="http://schemas.microsoft.com/office/drawing/2014/main" id="{5F8F8824-DB03-4FE4-970B-36DB01017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3328421"/>
            <a:ext cx="2623853" cy="2167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4CA7AC-88D3-42E7-87B5-3834290D9C40}"/>
              </a:ext>
            </a:extLst>
          </p:cNvPr>
          <p:cNvSpPr txBox="1"/>
          <p:nvPr/>
        </p:nvSpPr>
        <p:spPr>
          <a:xfrm>
            <a:off x="8074204" y="631750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53122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94CD81F-E31D-4659-8942-1E1CF648B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04" y="857065"/>
            <a:ext cx="8360015" cy="5352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56020E-02D3-4452-A71D-C8D28921BE69}"/>
              </a:ext>
            </a:extLst>
          </p:cNvPr>
          <p:cNvSpPr txBox="1"/>
          <p:nvPr/>
        </p:nvSpPr>
        <p:spPr>
          <a:xfrm>
            <a:off x="8401050" y="5600700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35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E8FDD51A-093C-4451-9813-2A46B240B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3092" y="1600855"/>
            <a:ext cx="3574526" cy="695192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sz="1400" dirty="0">
                <a:latin typeface="+mj-lt"/>
              </a:rPr>
              <a:t>Предсказание происходит путем нормализации и поиском методом трех ближайших соседей с вычислением Евклидова расстояния.</a:t>
            </a: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00A1931B-0DE2-4CF6-B572-8DE6631D5A99}"/>
              </a:ext>
            </a:extLst>
          </p:cNvPr>
          <p:cNvSpPr txBox="1">
            <a:spLocks/>
          </p:cNvSpPr>
          <p:nvPr/>
        </p:nvSpPr>
        <p:spPr>
          <a:xfrm>
            <a:off x="4798629" y="3035032"/>
            <a:ext cx="2202245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100" kern="0" dirty="0"/>
              <a:t>Для каждого тестового образца (</a:t>
            </a:r>
            <a:r>
              <a:rPr lang="en-US" sz="1100" kern="0" dirty="0"/>
              <a:t>s1/N1 </a:t>
            </a:r>
            <a:r>
              <a:rPr lang="ru-RU" sz="1100" kern="0" dirty="0"/>
              <a:t>или </a:t>
            </a:r>
            <a:r>
              <a:rPr lang="en-US" sz="1100" kern="0" dirty="0"/>
              <a:t>k1/s1/N2</a:t>
            </a:r>
            <a:r>
              <a:rPr lang="ru-RU" sz="1100" kern="0" dirty="0"/>
              <a:t>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7013BA-166C-4BF0-B052-E7CAC58DB420}"/>
                  </a:ext>
                </a:extLst>
              </p:cNvPr>
              <p:cNvSpPr txBox="1"/>
              <p:nvPr/>
            </p:nvSpPr>
            <p:spPr>
              <a:xfrm>
                <a:off x="4632852" y="3614545"/>
                <a:ext cx="2368021" cy="625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𝑠𝑐𝑎𝑙𝑒𝑑</m:t>
                          </m:r>
                        </m:sub>
                      </m:sSub>
                      <m:r>
                        <a:rPr lang="en-US" sz="105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br>
                  <a:rPr lang="en-US" sz="1050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sz="10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где</m:t>
                    </m:r>
                    <m:r>
                      <a:rPr lang="en-US" sz="10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r>
                      <a:rPr lang="en-US" sz="10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050" dirty="0"/>
                  <a:t> </a:t>
                </a:r>
                <a:r>
                  <a:rPr lang="ru-RU" sz="1050" dirty="0"/>
                  <a:t>– среднее обучающей выборки</a:t>
                </a:r>
                <a:br>
                  <a:rPr lang="ru-RU" sz="1050" dirty="0"/>
                </a:br>
                <a:r>
                  <a:rPr lang="ru-RU" sz="1050" dirty="0"/>
                  <a:t> </a:t>
                </a:r>
                <a14:m>
                  <m:oMath xmlns:m="http://schemas.openxmlformats.org/officeDocument/2006/math">
                    <m:r>
                      <a:rPr lang="ru-RU" sz="10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</m:t>
                    </m:r>
                    <m:r>
                      <a:rPr lang="en-US" sz="10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ru-RU" sz="1050" dirty="0"/>
                  <a:t> – стандартное отклонение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7013BA-166C-4BF0-B052-E7CAC58DB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852" y="3614545"/>
                <a:ext cx="2368021" cy="625749"/>
              </a:xfrm>
              <a:prstGeom prst="rect">
                <a:avLst/>
              </a:prstGeom>
              <a:blipFill>
                <a:blip r:embed="rId3"/>
                <a:stretch>
                  <a:fillRect l="-1804" t="-1942" r="-3093" b="-116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Текст 2">
            <a:extLst>
              <a:ext uri="{FF2B5EF4-FFF2-40B4-BE49-F238E27FC236}">
                <a16:creationId xmlns:a16="http://schemas.microsoft.com/office/drawing/2014/main" id="{3276D3E2-8A01-48F6-B7E0-53FAE51425C3}"/>
              </a:ext>
            </a:extLst>
          </p:cNvPr>
          <p:cNvSpPr txBox="1">
            <a:spLocks/>
          </p:cNvSpPr>
          <p:nvPr/>
        </p:nvSpPr>
        <p:spPr>
          <a:xfrm>
            <a:off x="4632854" y="3448940"/>
            <a:ext cx="348615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050" kern="0" dirty="0"/>
              <a:t>1) Нормализация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A0269094-5B87-4768-A7F2-8CD1BD114D5E}"/>
              </a:ext>
            </a:extLst>
          </p:cNvPr>
          <p:cNvSpPr txBox="1">
            <a:spLocks/>
          </p:cNvSpPr>
          <p:nvPr/>
        </p:nvSpPr>
        <p:spPr>
          <a:xfrm>
            <a:off x="4632852" y="4261973"/>
            <a:ext cx="348615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050" kern="0" dirty="0"/>
              <a:t>2) Вычисление расстояний (Евклидово)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BAF5BE-1C29-4C8D-A302-1D4655577510}"/>
                  </a:ext>
                </a:extLst>
              </p:cNvPr>
              <p:cNvSpPr txBox="1"/>
              <p:nvPr/>
            </p:nvSpPr>
            <p:spPr>
              <a:xfrm>
                <a:off x="4690720" y="4454196"/>
                <a:ext cx="2252283" cy="1956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105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+(</m:t>
                          </m:r>
                          <m:sSup>
                            <m:sSup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05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BAF5BE-1C29-4C8D-A302-1D4655577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720" y="4454196"/>
                <a:ext cx="2252283" cy="195695"/>
              </a:xfrm>
              <a:prstGeom prst="rect">
                <a:avLst/>
              </a:prstGeom>
              <a:blipFill>
                <a:blip r:embed="rId4"/>
                <a:stretch>
                  <a:fillRect l="-811" b="-312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Текст 2">
            <a:extLst>
              <a:ext uri="{FF2B5EF4-FFF2-40B4-BE49-F238E27FC236}">
                <a16:creationId xmlns:a16="http://schemas.microsoft.com/office/drawing/2014/main" id="{1470B2C1-96D8-43DF-8E90-AEA504BF7A2F}"/>
              </a:ext>
            </a:extLst>
          </p:cNvPr>
          <p:cNvSpPr txBox="1">
            <a:spLocks/>
          </p:cNvSpPr>
          <p:nvPr/>
        </p:nvSpPr>
        <p:spPr>
          <a:xfrm>
            <a:off x="628650" y="5574885"/>
            <a:ext cx="348615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050" kern="0" dirty="0"/>
              <a:t>или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1B8BAB-2D65-4E31-A5DE-EE18B1BFB82E}"/>
                  </a:ext>
                </a:extLst>
              </p:cNvPr>
              <p:cNvSpPr txBox="1"/>
              <p:nvPr/>
            </p:nvSpPr>
            <p:spPr>
              <a:xfrm>
                <a:off x="3360355" y="4715927"/>
                <a:ext cx="4343399" cy="1956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105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+(</m:t>
                          </m:r>
                          <m:sSup>
                            <m:sSup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+(</m:t>
                          </m:r>
                          <m:sSup>
                            <m:sSup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05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1B8BAB-2D65-4E31-A5DE-EE18B1BFB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355" y="4715927"/>
                <a:ext cx="4343399" cy="195695"/>
              </a:xfrm>
              <a:prstGeom prst="rect">
                <a:avLst/>
              </a:prstGeom>
              <a:blipFill>
                <a:blip r:embed="rId5"/>
                <a:stretch>
                  <a:fillRect b="-312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A2B56EBC-52D1-406B-B634-B79BC5759F03}"/>
              </a:ext>
            </a:extLst>
          </p:cNvPr>
          <p:cNvSpPr txBox="1"/>
          <p:nvPr/>
        </p:nvSpPr>
        <p:spPr>
          <a:xfrm>
            <a:off x="3613168" y="5130794"/>
            <a:ext cx="45731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50" kern="0" dirty="0"/>
              <a:t>3</a:t>
            </a:r>
            <a:r>
              <a:rPr lang="ru-RU" sz="1050" kern="0" dirty="0"/>
              <a:t>) Взвешенное предсказание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35485F-250E-4F60-B275-9CBAB4358CB1}"/>
                  </a:ext>
                </a:extLst>
              </p:cNvPr>
              <p:cNvSpPr txBox="1"/>
              <p:nvPr/>
            </p:nvSpPr>
            <p:spPr>
              <a:xfrm>
                <a:off x="4003181" y="4977658"/>
                <a:ext cx="4040792" cy="5336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135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135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35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sz="135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135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350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35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135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35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5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35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35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5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35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sz="135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135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350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35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135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35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35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5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35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den>
                    </m:f>
                  </m:oMath>
                </a14:m>
                <a:endParaRPr lang="ru-RU" sz="135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35485F-250E-4F60-B275-9CBAB4358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181" y="4977658"/>
                <a:ext cx="4040792" cy="533672"/>
              </a:xfrm>
              <a:prstGeom prst="rect">
                <a:avLst/>
              </a:prstGeom>
              <a:blipFill>
                <a:blip r:embed="rId6"/>
                <a:stretch>
                  <a:fillRect b="-11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6BBB3741-03C6-4F54-B955-AB8E6FD62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1218"/>
            <a:ext cx="7886700" cy="585488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ЗАДАЧА МАШИННОГО ОБУЧЕНИЯ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A56EF5-04AD-4F83-9549-F2EA60707F08}"/>
              </a:ext>
            </a:extLst>
          </p:cNvPr>
          <p:cNvSpPr txBox="1"/>
          <p:nvPr/>
        </p:nvSpPr>
        <p:spPr>
          <a:xfrm>
            <a:off x="8074204" y="631750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45646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109C62-45D8-44D5-BB2A-1CACA7BD7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1218"/>
            <a:ext cx="7886700" cy="558327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ОБЪЕКТЫ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C63B65-106A-4551-BE31-61DDA4E3C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115" y="1046018"/>
            <a:ext cx="6386176" cy="5031654"/>
          </a:xfrm>
        </p:spPr>
        <p:txBody>
          <a:bodyPr>
            <a:normAutofit/>
          </a:bodyPr>
          <a:lstStyle/>
          <a:p>
            <a:r>
              <a:rPr lang="ru-RU" sz="1800" dirty="0">
                <a:latin typeface="+mj-lt"/>
              </a:rPr>
              <a:t>Объектами исследования являются двухступенчатые ракеты-носители различных классов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E6FE84-4792-4697-ADEC-6CE7EB7DC2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44"/>
          <a:stretch/>
        </p:blipFill>
        <p:spPr>
          <a:xfrm>
            <a:off x="7816685" y="1046018"/>
            <a:ext cx="949053" cy="4567527"/>
          </a:xfrm>
          <a:prstGeom prst="rect">
            <a:avLst/>
          </a:prstGeom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CA19F3F6-CECB-4129-9F5B-BC506D23D7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07" b="30532"/>
          <a:stretch/>
        </p:blipFill>
        <p:spPr bwMode="auto">
          <a:xfrm rot="16200000" flipV="1">
            <a:off x="321955" y="5022130"/>
            <a:ext cx="1082257" cy="100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2D45760-9DDB-4A8A-8901-099619760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198376"/>
              </p:ext>
            </p:extLst>
          </p:nvPr>
        </p:nvGraphicFramePr>
        <p:xfrm>
          <a:off x="1798883" y="1837614"/>
          <a:ext cx="5546233" cy="280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850">
                  <a:extLst>
                    <a:ext uri="{9D8B030D-6E8A-4147-A177-3AD203B41FA5}">
                      <a16:colId xmlns:a16="http://schemas.microsoft.com/office/drawing/2014/main" val="2562717497"/>
                    </a:ext>
                  </a:extLst>
                </a:gridCol>
                <a:gridCol w="3805383">
                  <a:extLst>
                    <a:ext uri="{9D8B030D-6E8A-4147-A177-3AD203B41FA5}">
                      <a16:colId xmlns:a16="http://schemas.microsoft.com/office/drawing/2014/main" val="3757391654"/>
                    </a:ext>
                  </a:extLst>
                </a:gridCol>
              </a:tblGrid>
              <a:tr h="57002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Виды ракет-носителей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Семейства ракет-носителей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129155"/>
                  </a:ext>
                </a:extLst>
              </a:tr>
              <a:tr h="33721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РН легкого класса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“</a:t>
                      </a:r>
                      <a:r>
                        <a:rPr lang="en-US" sz="1600" dirty="0" err="1"/>
                        <a:t>Blackarrow</a:t>
                      </a:r>
                      <a:r>
                        <a:rPr lang="en-US" sz="1600" dirty="0"/>
                        <a:t>”, “Electron”, “</a:t>
                      </a:r>
                      <a:r>
                        <a:rPr lang="en-US" sz="1600" dirty="0" err="1"/>
                        <a:t>FireFly</a:t>
                      </a:r>
                      <a:r>
                        <a:rPr lang="en-US" sz="1600" dirty="0"/>
                        <a:t> Alpha”, “Isa”, “Kinetika-2”, “</a:t>
                      </a:r>
                      <a:r>
                        <a:rPr lang="ru-RU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Stalker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ru-RU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Vector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-R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Ангара-1,2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Союз-2.1в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258734"/>
                  </a:ext>
                </a:extLst>
              </a:tr>
              <a:tr h="33721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РН среднего класса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“Antares”, “CZ-2C”, “Falcon-9”, “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Kosmos-3M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Terran-1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Titan 2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ru-RU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Zenit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Амур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Союз-5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Циклон-2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508621"/>
                  </a:ext>
                </a:extLst>
              </a:tr>
              <a:tr h="5820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РН тяжелого класса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“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Starship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964193"/>
                  </a:ext>
                </a:extLst>
              </a:tr>
            </a:tbl>
          </a:graphicData>
        </a:graphic>
      </p:graphicFrame>
      <p:sp>
        <p:nvSpPr>
          <p:cNvPr id="8" name="Объект 2">
            <a:extLst>
              <a:ext uri="{FF2B5EF4-FFF2-40B4-BE49-F238E27FC236}">
                <a16:creationId xmlns:a16="http://schemas.microsoft.com/office/drawing/2014/main" id="{7FF2615C-FD78-4B6F-AC35-9AFE3CC10F15}"/>
              </a:ext>
            </a:extLst>
          </p:cNvPr>
          <p:cNvSpPr txBox="1">
            <a:spLocks/>
          </p:cNvSpPr>
          <p:nvPr/>
        </p:nvSpPr>
        <p:spPr>
          <a:xfrm>
            <a:off x="466361" y="5712763"/>
            <a:ext cx="840788" cy="1984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000" dirty="0">
                <a:latin typeface="+mj-lt"/>
              </a:rPr>
              <a:t>«</a:t>
            </a:r>
            <a:r>
              <a:rPr lang="en-US" sz="1000" dirty="0">
                <a:latin typeface="+mj-lt"/>
              </a:rPr>
              <a:t>Electron</a:t>
            </a:r>
            <a:r>
              <a:rPr lang="ru-RU" sz="1000" dirty="0">
                <a:latin typeface="+mj-lt"/>
              </a:rPr>
              <a:t>»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C526FC08-2F2A-4240-A627-2521C2CA3C55}"/>
              </a:ext>
            </a:extLst>
          </p:cNvPr>
          <p:cNvSpPr txBox="1">
            <a:spLocks/>
          </p:cNvSpPr>
          <p:nvPr/>
        </p:nvSpPr>
        <p:spPr>
          <a:xfrm>
            <a:off x="7676136" y="5712763"/>
            <a:ext cx="1230150" cy="19843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000" dirty="0">
                <a:latin typeface="+mj-lt"/>
              </a:rPr>
              <a:t>«</a:t>
            </a:r>
            <a:r>
              <a:rPr lang="en-US" sz="1000" dirty="0">
                <a:latin typeface="+mj-lt"/>
              </a:rPr>
              <a:t>Superheavy-Starship</a:t>
            </a:r>
            <a:r>
              <a:rPr lang="ru-RU" sz="1000" dirty="0">
                <a:latin typeface="+mj-lt"/>
              </a:rPr>
              <a:t>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FF0AA-5685-43B2-B971-952E5DA4608A}"/>
              </a:ext>
            </a:extLst>
          </p:cNvPr>
          <p:cNvSpPr txBox="1"/>
          <p:nvPr/>
        </p:nvSpPr>
        <p:spPr>
          <a:xfrm>
            <a:off x="8070638" y="627745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218952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F7B7EE-E322-4B69-B969-7CDD93E68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869133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СТАТУС РАБОТ ПО ТЕМЕ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AF618231-E164-4627-A88A-555ADAAEA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56900"/>
              </p:ext>
            </p:extLst>
          </p:nvPr>
        </p:nvGraphicFramePr>
        <p:xfrm>
          <a:off x="628650" y="1010920"/>
          <a:ext cx="8080784" cy="372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0392">
                  <a:extLst>
                    <a:ext uri="{9D8B030D-6E8A-4147-A177-3AD203B41FA5}">
                      <a16:colId xmlns:a16="http://schemas.microsoft.com/office/drawing/2014/main" val="1220497466"/>
                    </a:ext>
                  </a:extLst>
                </a:gridCol>
                <a:gridCol w="4040392">
                  <a:extLst>
                    <a:ext uri="{9D8B030D-6E8A-4147-A177-3AD203B41FA5}">
                      <a16:colId xmlns:a16="http://schemas.microsoft.com/office/drawing/2014/main" val="20243546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Выполнено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Запланировано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26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1) Создана расчетная модель для оценки колебательных и аэродинамических параметров на каждом шаге интегрирования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1</a:t>
                      </a:r>
                      <a:r>
                        <a:rPr lang="en-US" sz="1400" dirty="0"/>
                        <a:t>) </a:t>
                      </a:r>
                      <a:r>
                        <a:rPr lang="ru-RU" sz="1400" dirty="0"/>
                        <a:t>Аппроксимация новых данных для уточнения статистики</a:t>
                      </a:r>
                      <a:r>
                        <a:rPr lang="en-US" sz="1400" dirty="0"/>
                        <a:t> </a:t>
                      </a:r>
                      <a:r>
                        <a:rPr lang="ru-RU" sz="1400" dirty="0"/>
                        <a:t>методом машинного обучения</a:t>
                      </a:r>
                    </a:p>
                    <a:p>
                      <a:pPr algn="l"/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47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2) Определен формат и воссоздана база данных ракет-носителей и их параметров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2) Верификация модели с данными завода-изготовителя и подтверждение значительного вклада аэроупругости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702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3) Создан программный комплекс для моделирования динамики возмущенного движения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3) Формулирование математической модели разрабатываемой методики</a:t>
                      </a:r>
                    </a:p>
                    <a:p>
                      <a:pPr algn="l"/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442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5) Применение расчетной модели на ракетах-носителях с возвращаемыми частями и падающих блоках</a:t>
                      </a:r>
                    </a:p>
                    <a:p>
                      <a:pPr algn="l"/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4) Сравнительный анализ результатов расчета в Компас </a:t>
                      </a:r>
                      <a:r>
                        <a:rPr lang="en-US" sz="1400" dirty="0"/>
                        <a:t>flow</a:t>
                      </a:r>
                      <a:r>
                        <a:rPr lang="ru-RU" sz="1400" dirty="0"/>
                        <a:t> и моделирования в </a:t>
                      </a:r>
                      <a:r>
                        <a:rPr lang="en-US" sz="1400" dirty="0"/>
                        <a:t>MSC Nastran</a:t>
                      </a:r>
                      <a:endParaRPr lang="ru-RU" sz="1400" dirty="0"/>
                    </a:p>
                    <a:p>
                      <a:pPr algn="l"/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017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5A9992-2E2A-4165-9474-632703CD6F4F}"/>
              </a:ext>
            </a:extLst>
          </p:cNvPr>
          <p:cNvSpPr txBox="1"/>
          <p:nvPr/>
        </p:nvSpPr>
        <p:spPr>
          <a:xfrm>
            <a:off x="8070638" y="627745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41157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1B88BBE-1CA0-458A-953E-1EE3CB1F2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869133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СТАТУС РАБОТ ПО ТЕМЕ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9D00BDDF-6710-46B2-BC97-0702505E3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829897"/>
              </p:ext>
            </p:extLst>
          </p:nvPr>
        </p:nvGraphicFramePr>
        <p:xfrm>
          <a:off x="628651" y="1240326"/>
          <a:ext cx="8108949" cy="4920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405">
                  <a:extLst>
                    <a:ext uri="{9D8B030D-6E8A-4147-A177-3AD203B41FA5}">
                      <a16:colId xmlns:a16="http://schemas.microsoft.com/office/drawing/2014/main" val="4136704084"/>
                    </a:ext>
                  </a:extLst>
                </a:gridCol>
                <a:gridCol w="1998076">
                  <a:extLst>
                    <a:ext uri="{9D8B030D-6E8A-4147-A177-3AD203B41FA5}">
                      <a16:colId xmlns:a16="http://schemas.microsoft.com/office/drawing/2014/main" val="4256667896"/>
                    </a:ext>
                  </a:extLst>
                </a:gridCol>
                <a:gridCol w="2044734">
                  <a:extLst>
                    <a:ext uri="{9D8B030D-6E8A-4147-A177-3AD203B41FA5}">
                      <a16:colId xmlns:a16="http://schemas.microsoft.com/office/drawing/2014/main" val="3260174549"/>
                    </a:ext>
                  </a:extLst>
                </a:gridCol>
                <a:gridCol w="2044734">
                  <a:extLst>
                    <a:ext uri="{9D8B030D-6E8A-4147-A177-3AD203B41FA5}">
                      <a16:colId xmlns:a16="http://schemas.microsoft.com/office/drawing/2014/main" val="1387195500"/>
                    </a:ext>
                  </a:extLst>
                </a:gridCol>
              </a:tblGrid>
              <a:tr h="404585"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Опубликованы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 работе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229510"/>
                  </a:ext>
                </a:extLst>
              </a:tr>
              <a:tr h="225005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187253"/>
                  </a:ext>
                </a:extLst>
              </a:tr>
              <a:tr h="2265690">
                <a:tc>
                  <a:txBody>
                    <a:bodyPr/>
                    <a:lstStyle/>
                    <a:p>
                      <a:r>
                        <a:rPr lang="ru-RU" sz="1000" dirty="0"/>
                        <a:t>Сметана В.В., Давыдов И.Е., </a:t>
                      </a:r>
                    </a:p>
                    <a:p>
                      <a:r>
                        <a:rPr lang="ru-RU" sz="1000" dirty="0"/>
                        <a:t>Лазарев А.А. Исследование динамики возмущенного движения многоразового упругого блока ракеты-носителя на участке посадки // Инженерный журнал: наука и инновации. — 2024. — № 9 (153).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Сметана В.В., Давыдов И.Е., </a:t>
                      </a:r>
                    </a:p>
                    <a:p>
                      <a:r>
                        <a:rPr lang="ru-RU" sz="1000" dirty="0"/>
                        <a:t>Глушков С.В. Расчёт аэродинамических характеристик возвращаемого блока ракеты-носителя типа «Союз-2-1а» при моделировании его возмущенного движения // Космические аппараты и технологии. 2025. Т. 9. № 4. С. 226-239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i="0" dirty="0">
                          <a:latin typeface="+mn-lt"/>
                        </a:rPr>
                        <a:t>Сметана В.В., Давыдов И.Е. </a:t>
                      </a:r>
                      <a:r>
                        <a:rPr lang="ru-RU" sz="10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Исследование траектории движения возвращаемой ступени ракеты-носителя,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i="0" dirty="0">
                          <a:latin typeface="+mn-lt"/>
                        </a:rPr>
                        <a:t>Сметана В.В., Давыдов И.Е. </a:t>
                      </a:r>
                      <a:r>
                        <a:rPr lang="ru-RU" sz="10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Анализ колебательных параметров ракет-носителей с учетом аэроупругости, 2026</a:t>
                      </a:r>
                    </a:p>
                    <a:p>
                      <a:endParaRPr lang="ru-RU" sz="100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361306"/>
                  </a:ext>
                </a:extLst>
              </a:tr>
            </a:tbl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70C3CBD-2437-48FC-90AD-3702BA91584A}"/>
              </a:ext>
            </a:extLst>
          </p:cNvPr>
          <p:cNvSpPr txBox="1">
            <a:spLocks/>
          </p:cNvSpPr>
          <p:nvPr/>
        </p:nvSpPr>
        <p:spPr>
          <a:xfrm>
            <a:off x="628650" y="857397"/>
            <a:ext cx="7886700" cy="382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/>
              <a:t>Статьи уровня </a:t>
            </a:r>
            <a:r>
              <a:rPr lang="ru-RU" sz="2000" b="1" dirty="0"/>
              <a:t>ВАК</a:t>
            </a:r>
            <a:r>
              <a:rPr lang="ru-RU" sz="2000" dirty="0"/>
              <a:t>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00A8255-3ADF-46BA-A939-CBD45E649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010" y="1726529"/>
            <a:ext cx="1481483" cy="210656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0F324F3-8FAE-4FA7-BB25-0BDC2CE94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705" y="1726529"/>
            <a:ext cx="1426612" cy="210656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9402C5F-B181-45B1-B956-F57677E99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730" y="1726529"/>
            <a:ext cx="1564570" cy="210656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031F324-6E47-487D-B154-E600385FD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537" y="1726528"/>
            <a:ext cx="1564570" cy="21065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8292AC-EBD5-4512-8AC6-C7466F03CE08}"/>
              </a:ext>
            </a:extLst>
          </p:cNvPr>
          <p:cNvSpPr txBox="1"/>
          <p:nvPr/>
        </p:nvSpPr>
        <p:spPr>
          <a:xfrm>
            <a:off x="8070638" y="627745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216213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B80E654-493B-4AD9-89C6-534A22B20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089891"/>
            <a:ext cx="8081241" cy="5087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b="1" dirty="0">
                <a:latin typeface="+mj-lt"/>
              </a:rPr>
              <a:t>Шифр научной специальности: </a:t>
            </a:r>
          </a:p>
          <a:p>
            <a:pPr marL="0" indent="0">
              <a:buNone/>
            </a:pPr>
            <a:r>
              <a:rPr lang="ru-RU" sz="1600" dirty="0">
                <a:latin typeface="+mj-lt"/>
              </a:rPr>
              <a:t>2.5.16. Динамика, баллистика и управление движением летательных аппаратов</a:t>
            </a:r>
          </a:p>
          <a:p>
            <a:pPr marL="0" indent="0">
              <a:buNone/>
            </a:pPr>
            <a:r>
              <a:rPr lang="ru-RU" sz="1600" b="1" dirty="0">
                <a:latin typeface="+mj-lt"/>
              </a:rPr>
              <a:t>Направления исследований:  </a:t>
            </a:r>
          </a:p>
          <a:p>
            <a:pPr marL="0" indent="0">
              <a:buNone/>
            </a:pPr>
            <a:r>
              <a:rPr lang="en-US" sz="1600" b="1" dirty="0">
                <a:latin typeface="+mj-lt"/>
              </a:rPr>
              <a:t>I</a:t>
            </a:r>
            <a:r>
              <a:rPr lang="en-US" sz="1600" dirty="0">
                <a:latin typeface="+mj-lt"/>
              </a:rPr>
              <a:t> </a:t>
            </a:r>
            <a:r>
              <a:rPr lang="ru-RU" sz="1600" dirty="0">
                <a:latin typeface="+mj-lt"/>
              </a:rPr>
              <a:t>Разработка и совершенствование математических моделей, используемых для описания движения и управления летательным аппаратом на различных режимах полета</a:t>
            </a:r>
          </a:p>
          <a:p>
            <a:pPr marL="0" indent="0">
              <a:buNone/>
            </a:pPr>
            <a:r>
              <a:rPr lang="ru-RU" sz="1600" dirty="0">
                <a:latin typeface="+mj-lt"/>
              </a:rPr>
              <a:t> </a:t>
            </a:r>
            <a:endParaRPr lang="ru-RU" sz="1600" b="1" dirty="0">
              <a:latin typeface="+mj-lt"/>
            </a:endParaRPr>
          </a:p>
          <a:p>
            <a:pPr marL="0" indent="0">
              <a:buNone/>
            </a:pPr>
            <a:r>
              <a:rPr lang="en-US" sz="1600" b="1" dirty="0">
                <a:latin typeface="+mj-lt"/>
              </a:rPr>
              <a:t>II</a:t>
            </a:r>
            <a:r>
              <a:rPr lang="en-US" sz="1600" dirty="0">
                <a:latin typeface="+mj-lt"/>
              </a:rPr>
              <a:t> </a:t>
            </a:r>
            <a:r>
              <a:rPr lang="ru-RU" sz="1600" dirty="0">
                <a:latin typeface="+mj-lt"/>
              </a:rPr>
              <a:t>Разработка методов идентификации аэродинамических и динамических характеристик ЛА по данным летных экспериментов.</a:t>
            </a:r>
          </a:p>
          <a:p>
            <a:pPr marL="0" indent="0">
              <a:buNone/>
            </a:pPr>
            <a:endParaRPr lang="ru-RU" sz="1600" b="1" dirty="0">
              <a:latin typeface="+mj-lt"/>
            </a:endParaRPr>
          </a:p>
          <a:p>
            <a:pPr marL="0" indent="0">
              <a:buNone/>
            </a:pPr>
            <a:r>
              <a:rPr lang="en-US" sz="1600" b="1" dirty="0">
                <a:latin typeface="+mj-lt"/>
              </a:rPr>
              <a:t>III </a:t>
            </a:r>
            <a:r>
              <a:rPr lang="ru-RU" sz="1600" dirty="0">
                <a:latin typeface="+mj-lt"/>
              </a:rPr>
              <a:t>Разработка новых и совершенствование существующих методов исследования динамики летательных аппаратов с учетом упругости конструкции, переменной структуры и нестационарностью процессов внутри корпуса летательного аппарата</a:t>
            </a:r>
          </a:p>
          <a:p>
            <a:pPr marL="0" indent="0">
              <a:buNone/>
            </a:pPr>
            <a:endParaRPr lang="ru-RU" sz="1600" dirty="0">
              <a:latin typeface="+mj-lt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E0EE21B-81E9-4077-8999-F76CC4D7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869133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СООТВЕСТВИЕ ПАСПОРТУ СПЕЦИАЛЬНОСТИ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02C99A-8F01-41FD-824A-A248E7FACF12}"/>
              </a:ext>
            </a:extLst>
          </p:cNvPr>
          <p:cNvSpPr txBox="1"/>
          <p:nvPr/>
        </p:nvSpPr>
        <p:spPr>
          <a:xfrm>
            <a:off x="8070638" y="627745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342768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23510-D511-4650-A53F-CBBDB343B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6485"/>
            <a:ext cx="7886700" cy="594541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ПРИМЕНЕНИЕ РЕЗУЛЬТАТОВ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682E9F-F909-49A3-A3D0-A5B1B4C40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757" y="979055"/>
            <a:ext cx="8186593" cy="5197908"/>
          </a:xfrm>
        </p:spPr>
        <p:txBody>
          <a:bodyPr>
            <a:normAutofit/>
          </a:bodyPr>
          <a:lstStyle/>
          <a:p>
            <a:pPr indent="0" algn="just">
              <a:lnSpc>
                <a:spcPct val="150000"/>
              </a:lnSpc>
              <a:spcAft>
                <a:spcPts val="700"/>
              </a:spcAft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Результаты работы позволят ускорить процесс проектирования ракет-носителей с одноразовыми и многоразовыми частями за счет внедрения учета аэроупругости на каждом шаге интегрирования и применения перспективных технологий, таких как машинное обучение.</a:t>
            </a:r>
            <a:endParaRPr lang="ru-RU" sz="1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095F1D22-118E-48A2-BA2F-D04965BC0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441" y="2903827"/>
            <a:ext cx="5818909" cy="327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A12EDCE7-CEA8-4E00-8324-DE2BC7832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57" y="2441433"/>
            <a:ext cx="4243243" cy="238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082F9E-59F2-4444-ACE9-479277447075}"/>
              </a:ext>
            </a:extLst>
          </p:cNvPr>
          <p:cNvSpPr txBox="1"/>
          <p:nvPr/>
        </p:nvSpPr>
        <p:spPr>
          <a:xfrm>
            <a:off x="4914840" y="6108149"/>
            <a:ext cx="11160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РН «Амур»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1E1FC9-ABBB-44A9-A174-D8ABB4618D0C}"/>
              </a:ext>
            </a:extLst>
          </p:cNvPr>
          <p:cNvSpPr txBox="1"/>
          <p:nvPr/>
        </p:nvSpPr>
        <p:spPr>
          <a:xfrm>
            <a:off x="1483532" y="4830437"/>
            <a:ext cx="1287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РН «Союз-2»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E6231B-8486-411B-8C77-559BC41CD9BC}"/>
              </a:ext>
            </a:extLst>
          </p:cNvPr>
          <p:cNvSpPr txBox="1"/>
          <p:nvPr/>
        </p:nvSpPr>
        <p:spPr>
          <a:xfrm>
            <a:off x="8070638" y="627745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24495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36692" y="634523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Medium Pro" panose="02000803000000020004" pitchFamily="50" charset="-52"/>
              </a:rPr>
              <a:t>10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46527" y="2613392"/>
            <a:ext cx="3831772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Elektra Text Pro" panose="02000503030000020004" pitchFamily="50" charset="-52"/>
              </a:rPr>
              <a:t>СПАСИБО </a:t>
            </a:r>
          </a:p>
          <a:p>
            <a:pPr algn="ctr"/>
            <a:r>
              <a:rPr lang="ru-RU" sz="2400" b="1" dirty="0">
                <a:solidFill>
                  <a:schemeClr val="bg1"/>
                </a:solidFill>
                <a:latin typeface="Elektra Text Pro" panose="02000503030000020004" pitchFamily="50" charset="-52"/>
              </a:rPr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7415617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/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Y_regular_presentation_2007">
  <a:themeElements>
    <a:clrScheme name="Custom 1">
      <a:dk1>
        <a:srgbClr val="000000"/>
      </a:dk1>
      <a:lt1>
        <a:srgbClr val="808080"/>
      </a:lt1>
      <a:dk2>
        <a:srgbClr val="FFFFFF"/>
      </a:dk2>
      <a:lt2>
        <a:srgbClr val="808080"/>
      </a:lt2>
      <a:accent1>
        <a:srgbClr val="808080"/>
      </a:accent1>
      <a:accent2>
        <a:srgbClr val="FFE600"/>
      </a:accent2>
      <a:accent3>
        <a:srgbClr val="999999"/>
      </a:accent3>
      <a:accent4>
        <a:srgbClr val="F0F0F0"/>
      </a:accent4>
      <a:accent5>
        <a:srgbClr val="00A3AE"/>
      </a:accent5>
      <a:accent6>
        <a:srgbClr val="C0C0C0"/>
      </a:accent6>
      <a:hlink>
        <a:srgbClr val="336699"/>
      </a:hlink>
      <a:folHlink>
        <a:srgbClr val="91278F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>
        <a:spAutoFit/>
      </a:bodyPr>
      <a:lstStyle>
        <a:defPPr marL="285750" indent="-285750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smtClean="0"/>
        </a:defPPr>
      </a:lstStyle>
    </a:txDef>
  </a:objectDefaults>
  <a:extraClrSchemeLst/>
  <a:custClrLst>
    <a:custClr name="EY Special Use Red">
      <a:srgbClr val="F04C3E"/>
    </a:custClr>
    <a:custClr name="EY Special Use Blue 50%">
      <a:srgbClr val="7FD1D6"/>
    </a:custClr>
    <a:custClr name="EY Special Use Purple">
      <a:srgbClr val="91278F"/>
    </a:custClr>
    <a:custClr name="EY Special Use Purple 50%">
      <a:srgbClr val="C893C7"/>
    </a:custClr>
    <a:custClr name="EY Special Use Green">
      <a:srgbClr val="2C973E"/>
    </a:custClr>
    <a:custClr name="EY Special Use Green 50%">
      <a:srgbClr val="95CB89"/>
    </a:custClr>
    <a:custClr name="EY Yellow 50%">
      <a:srgbClr val="FFF27F"/>
    </a:custClr>
    <a:custClr name="EY Special Use Lilac">
      <a:srgbClr val="AC98DB"/>
    </a:custClr>
    <a:custClr name="EY Special Use Lilac 50%">
      <a:srgbClr val="D8D2E0"/>
    </a:custClr>
    <a:custClr name="EY Link Blue">
      <a:srgbClr val="336699"/>
    </a:custClr>
  </a:custClr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24954</TotalTime>
  <Words>1466</Words>
  <Application>Microsoft Office PowerPoint</Application>
  <PresentationFormat>Экран (4:3)</PresentationFormat>
  <Paragraphs>236</Paragraphs>
  <Slides>20</Slides>
  <Notes>4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0" baseType="lpstr">
      <vt:lpstr>Arial</vt:lpstr>
      <vt:lpstr>Calibri</vt:lpstr>
      <vt:lpstr>Cambria Math</vt:lpstr>
      <vt:lpstr>Elektra Medium Pro</vt:lpstr>
      <vt:lpstr>Elektra Text Pro</vt:lpstr>
      <vt:lpstr>Times New Roman</vt:lpstr>
      <vt:lpstr>YS Text</vt:lpstr>
      <vt:lpstr>Тема Office</vt:lpstr>
      <vt:lpstr>EY_regular_presentation_2007</vt:lpstr>
      <vt:lpstr>think-cell Slide</vt:lpstr>
      <vt:lpstr>Презентация PowerPoint</vt:lpstr>
      <vt:lpstr>ТЕМАТИКА ИССЛЕДОВАНИЯ</vt:lpstr>
      <vt:lpstr>ПРОБЛЕМАТИКА ИССЛЕДОВАНИЯ</vt:lpstr>
      <vt:lpstr>СОСТОЯНИЕ ВОПРОСА</vt:lpstr>
      <vt:lpstr>СОСТОЯНИЕ ВОПРОСА</vt:lpstr>
      <vt:lpstr>МАТЕМАТИЧЕСКАЯ МОДЕЛЬ. БАЛЛИСТИКА</vt:lpstr>
      <vt:lpstr>МАТЕМАТИЧЕСКАЯ МОДЕЛЬ. ДИНАМИКА</vt:lpstr>
      <vt:lpstr>МАТЕМАТИЧЕСКАЯ МОДЕЛЬ. КОЛЕБАНИЯ</vt:lpstr>
      <vt:lpstr>ПРИМЕНЕНИЕ МОДЕЛИ</vt:lpstr>
      <vt:lpstr>ЗАДАЧА ПАДЕНИЯ / ВОЗВРАЩЕНИЯ</vt:lpstr>
      <vt:lpstr>ЗАДАЧА МОДЕЛИРОВАНИЯ СРЕДЫ</vt:lpstr>
      <vt:lpstr>АНАЛИЗ ВЛИЯНИЯ</vt:lpstr>
      <vt:lpstr>ЗАДАЧА ВЕРИФИКАЦИИ В CAE ПАКЕТАХ</vt:lpstr>
      <vt:lpstr>ЗАДАЧА МАШИННОГО ОБУЧЕНИЯ</vt:lpstr>
      <vt:lpstr>ОБЪЕКТЫ ИССЛЕДОВАНИЯ</vt:lpstr>
      <vt:lpstr>СТАТУС РАБОТ ПО ТЕМЕ</vt:lpstr>
      <vt:lpstr>СТАТУС РАБОТ ПО ТЕМЕ</vt:lpstr>
      <vt:lpstr>СООТВЕСТВИЕ ПАСПОРТУ СПЕЦИАЛЬНОСТИ</vt:lpstr>
      <vt:lpstr>ПРИМЕНЕНИЕ РЕЗУЛЬТАТОВ ИССЛЕДОВАНИЯ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Vladimir Smetana</cp:lastModifiedBy>
  <cp:revision>732</cp:revision>
  <cp:lastPrinted>2019-02-06T10:25:42Z</cp:lastPrinted>
  <dcterms:created xsi:type="dcterms:W3CDTF">2016-03-09T10:31:39Z</dcterms:created>
  <dcterms:modified xsi:type="dcterms:W3CDTF">2026-06-24T03:26:29Z</dcterms:modified>
</cp:coreProperties>
</file>